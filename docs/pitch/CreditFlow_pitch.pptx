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Открытие" id="{0ab0dd98-58b2-13b9-481f-43d5708b14a8}">
          <p14:sldIdLst>
            <p14:sldId id="256"/>
          </p14:sldIdLst>
        </p14:section>
        <p14:section name="Проблема и решение" id="{1a50c129-4a9c-1da3-ba74-d296b38de1a3}">
          <p14:sldIdLst>
            <p14:sldId id="257"/>
            <p14:sldId id="258"/>
          </p14:sldIdLst>
        </p14:section>
        <p14:section name="Продукт" id="{ce5e3a55-894b-8249-daa7-c2575bff114e}">
          <p14:sldIdLst>
            <p14:sldId id="259"/>
            <p14:sldId id="260"/>
          </p14:sldIdLst>
        </p14:section>
        <p14:section name="Как это работает" id="{aa788042-e24e-3d6e-ecb3-78b0d5ca0099}">
          <p14:sldIdLst>
            <p14:sldId id="261"/>
            <p14:sldId id="262"/>
            <p14:sldId id="263"/>
          </p14:sldIdLst>
        </p14:section>
        <p14:section name="Технологии" id="{c4b8792f-fcf6-7723-ea19-e44399d54903}">
          <p14:sldIdLst>
            <p14:sldId id="264"/>
            <p14:sldId id="265"/>
          </p14:sldIdLst>
        </p14:section>
        <p14:section name="Итоги" id="{21651845-0a74-acd9-e8de-f49fcd0a0490}">
          <p14:sldIdLst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CreditFlow — кредитный кабинет, где предприниматель видит путь от задачи до денег, а банк управляет этим путём в одном продукте.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 Марии пекарня, нужна вторая печь. Она не знает, какой продукт брать, заново вводит то, что банк знает по ИНН, после отправки попадает в чёрный ящик и получает «нет» без объяснений — хотя банк мог дать 2 млн вместо 3. Аналитик собирает данные из пяти систем, руководитель не видит воронку.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принципа: ноль лишнего ввода, прозрачность и не «нет», а «вот как можно». Важнее всего, что клиентский путь и обработка в банке — это один объект и один журнал событий.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Демо: ассистент разбирает задачу из текста, мастер подставляет данные ЕГРЮЛ и ФНС, после отправки этапы идут в реальном времени — это настоящий асинхронный конвейер.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Модель сама считает альтернативы: меньшую сумму, более долгий срок или продукт с меньшей ставкой. Клиент выбирает и сразу идёт к договору.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Как в кейсе: скоринг даёт уровень риска, а кредитная логика определяет решение. Одна и та же компания получает одинаковый рейтинг при любой сумме, а сумма влияет через DSCR. Модель версионируется, признаки сохраняются в заявке.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Сложная заявка у аналитика: все источники, балльная карта, DSCR, триггеры, ИИ-резюме. Меняю сумму — what-if сразу пересчитывает. Для сумм больше 15 млн — принцип четырёх глаз.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Как меняется лента под клиента: слева пекарня, справа перевозчик. Публикую материал для пекарен — он появляется только слева, с объяснением «ваш вид деятельности».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Конечный автомат статусов, транзакционный outbox в PostgreSQL, горизонтально масштабируемые воркеры, мягкая деградация при сбоях источников, аудит каждого действия. Всё поднимается одной командой. Если БКИ падает, заявка уходит специалисту и не теряется — покажу через chaos-эндпоинт.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ИИ — только там, где он создаёт ценность: разбор текста, объяснение, резюме для аналитика. Только модели с открытыми весами, локально, и у каждого сценария есть детерминированный fallback. Кредитных решений ИИ не принимает.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Работающий сквозной прототип: 5 продуктов, 16 статусов, 4 роли, 5 смоделированных внешних систем, 24 автотеста и e2e-скрипт, OpenAPI и Postman. Запуск одной командой.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Для клиента — заявка за 5 минут без повторного ввода и альтернатива вместо отказа. Для банка — автоматические решения по типовым заявкам, а аналитик занят только сложными. Дальше: модель на исторических данных, транзакционные признаки, BPMN и корпоративная шина. Архитектура для этого готова.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CreditFlow превращает кредит из лотереи в понятный процесс для обеих сторон. Спасибо!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1F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5156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5156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rgbClr val="C9D3DF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5"/>
                </a:solidFill>
              </a:rPr>
              <a:t>CreditFlow · Нейрослопики · Альфа-Хак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7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7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"/>
          <p:cNvSpPr/>
          <p:nvPr/>
        </p:nvSpPr>
        <p:spPr>
          <a:xfrm>
            <a:off x="731520" y="1097280"/>
            <a:ext cx="640080" cy="640080"/>
          </a:xfrm>
          <a:prstGeom prst="roundRect">
            <a:avLst>
              <a:gd name="adj" fmla="val 2142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logo-c"/>
          <p:cNvSpPr txBox="1"/>
          <p:nvPr/>
        </p:nvSpPr>
        <p:spPr>
          <a:xfrm>
            <a:off x="731520" y="1097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C</a:t>
            </a:r>
            <a:endParaRPr lang="en-US" sz="2800" dirty="0"/>
          </a:p>
        </p:txBody>
      </p:sp>
      <p:sp>
        <p:nvSpPr>
          <p:cNvPr id="4" name="brand"/>
          <p:cNvSpPr txBox="1"/>
          <p:nvPr/>
        </p:nvSpPr>
        <p:spPr>
          <a:xfrm>
            <a:off x="1554480" y="10972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CreditFlow</a:t>
            </a:r>
            <a:endParaRPr lang="en-US" sz="26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731520" y="2011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Умный кредитный кабинет предпринимателя</a:t>
            </a:r>
            <a:endParaRPr lang="en-US" sz="44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731520" y="356616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9D3DF"/>
                </a:solidFill>
              </a:rPr>
              <a:t>Путь от потребности бизнеса до денег на счёте — и управляемый кредитный конвейер для банка в одном продукте</a:t>
            </a:r>
            <a:endParaRPr lang="en-US" sz="2000" dirty="0"/>
          </a:p>
        </p:txBody>
      </p:sp>
      <p:sp>
        <p:nvSpPr>
          <p:cNvPr id="7" name="team"/>
          <p:cNvSpPr txBox="1"/>
          <p:nvPr/>
        </p:nvSpPr>
        <p:spPr>
          <a:xfrm>
            <a:off x="731520" y="5943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0B5"/>
                </a:solidFill>
              </a:rPr>
              <a:t>Альфа-Хак 2026 · кейс «Умный кредитный кабинет» · команда «Нейрослопики»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Кредит для МСБ — чёрный ящик для обеих сторон</a:t>
            </a:r>
            <a:endParaRPr lang="en-US" sz="3000" dirty="0"/>
          </a:p>
        </p:txBody>
      </p:sp>
      <p:sp>
        <p:nvSpPr>
          <p:cNvPr id="3" name="card-1"/>
          <p:cNvSpPr/>
          <p:nvPr/>
        </p:nvSpPr>
        <p:spPr>
          <a:xfrm>
            <a:off x="548640" y="1417320"/>
            <a:ext cx="3657600" cy="4663440"/>
          </a:xfrm>
          <a:prstGeom prst="roundRect">
            <a:avLst>
              <a:gd name="adj" fmla="val 3000"/>
            </a:avLst>
          </a:prstGeom>
          <a:solidFill>
            <a:srgbClr val="F3F4F5"/>
          </a:solidFill>
          <a:ln w="9525">
            <a:solidFill>
              <a:srgbClr val="F3F4F5"/>
            </a:solidFill>
            <a:prstDash val="solid"/>
          </a:ln>
        </p:spPr>
      </p:sp>
      <p:sp>
        <p:nvSpPr>
          <p:cNvPr id="4" name="text-2"/>
          <p:cNvSpPr txBox="1"/>
          <p:nvPr/>
        </p:nvSpPr>
        <p:spPr>
          <a:xfrm>
            <a:off x="822960" y="1600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Предприниматель</a:t>
            </a:r>
            <a:endParaRPr lang="en-US" sz="2000" dirty="0"/>
          </a:p>
        </p:txBody>
      </p:sp>
      <p:sp>
        <p:nvSpPr>
          <p:cNvPr id="5" name="dot-3"/>
          <p:cNvSpPr/>
          <p:nvPr/>
        </p:nvSpPr>
        <p:spPr>
          <a:xfrm>
            <a:off x="822960" y="219456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-4"/>
          <p:cNvSpPr txBox="1"/>
          <p:nvPr/>
        </p:nvSpPr>
        <p:spPr>
          <a:xfrm>
            <a:off x="822960" y="2194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-5"/>
          <p:cNvSpPr txBox="1"/>
          <p:nvPr/>
        </p:nvSpPr>
        <p:spPr>
          <a:xfrm>
            <a:off x="1371600" y="217627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Не знает, что выбрать</a:t>
            </a:r>
            <a:endParaRPr lang="en-US" sz="1500" dirty="0"/>
          </a:p>
        </p:txBody>
      </p:sp>
      <p:sp>
        <p:nvSpPr>
          <p:cNvPr id="8" name="text-6"/>
          <p:cNvSpPr txBox="1"/>
          <p:nvPr/>
        </p:nvSpPr>
        <p:spPr>
          <a:xfrm>
            <a:off x="1371600" y="2523744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оборотный, инвестиционный, овердрафт, льготный?</a:t>
            </a:r>
            <a:endParaRPr lang="en-US" sz="1300" dirty="0"/>
          </a:p>
        </p:txBody>
      </p:sp>
      <p:sp>
        <p:nvSpPr>
          <p:cNvPr id="9" name="dot-7"/>
          <p:cNvSpPr/>
          <p:nvPr/>
        </p:nvSpPr>
        <p:spPr>
          <a:xfrm>
            <a:off x="822960" y="3136392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num-8"/>
          <p:cNvSpPr txBox="1"/>
          <p:nvPr/>
        </p:nvSpPr>
        <p:spPr>
          <a:xfrm>
            <a:off x="822960" y="31363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-9"/>
          <p:cNvSpPr txBox="1"/>
          <p:nvPr/>
        </p:nvSpPr>
        <p:spPr>
          <a:xfrm>
            <a:off x="1371600" y="3118104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Вводит то, что банк знает сам</a:t>
            </a:r>
            <a:endParaRPr lang="en-US" sz="1500" dirty="0"/>
          </a:p>
        </p:txBody>
      </p:sp>
      <p:sp>
        <p:nvSpPr>
          <p:cNvPr id="12" name="text-10"/>
          <p:cNvSpPr txBox="1"/>
          <p:nvPr/>
        </p:nvSpPr>
        <p:spPr>
          <a:xfrm>
            <a:off x="1371600" y="3465576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реквизиты, выручку, руководителей</a:t>
            </a:r>
            <a:endParaRPr lang="en-US" sz="1300" dirty="0"/>
          </a:p>
        </p:txBody>
      </p:sp>
      <p:sp>
        <p:nvSpPr>
          <p:cNvPr id="13" name="dot-11"/>
          <p:cNvSpPr/>
          <p:nvPr/>
        </p:nvSpPr>
        <p:spPr>
          <a:xfrm>
            <a:off x="822960" y="4078224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num-12"/>
          <p:cNvSpPr txBox="1"/>
          <p:nvPr/>
        </p:nvSpPr>
        <p:spPr>
          <a:xfrm>
            <a:off x="822960" y="40782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-13"/>
          <p:cNvSpPr txBox="1"/>
          <p:nvPr/>
        </p:nvSpPr>
        <p:spPr>
          <a:xfrm>
            <a:off x="1371600" y="4059936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После отправки — тишина</a:t>
            </a:r>
            <a:endParaRPr lang="en-US" sz="1500" dirty="0"/>
          </a:p>
        </p:txBody>
      </p:sp>
      <p:sp>
        <p:nvSpPr>
          <p:cNvPr id="16" name="text-14"/>
          <p:cNvSpPr txBox="1"/>
          <p:nvPr/>
        </p:nvSpPr>
        <p:spPr>
          <a:xfrm>
            <a:off x="1371600" y="4407408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непонятно, где заявка и что нужно</a:t>
            </a:r>
            <a:endParaRPr lang="en-US" sz="1300" dirty="0"/>
          </a:p>
        </p:txBody>
      </p:sp>
      <p:sp>
        <p:nvSpPr>
          <p:cNvPr id="17" name="dot-15"/>
          <p:cNvSpPr/>
          <p:nvPr/>
        </p:nvSpPr>
        <p:spPr>
          <a:xfrm>
            <a:off x="822960" y="5020056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num-16"/>
          <p:cNvSpPr txBox="1"/>
          <p:nvPr/>
        </p:nvSpPr>
        <p:spPr>
          <a:xfrm>
            <a:off x="822960" y="50200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9" name="text-17"/>
          <p:cNvSpPr txBox="1"/>
          <p:nvPr/>
        </p:nvSpPr>
        <p:spPr>
          <a:xfrm>
            <a:off x="1371600" y="5001768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Получает «нет» без объяснений</a:t>
            </a:r>
            <a:endParaRPr lang="en-US" sz="1500" dirty="0"/>
          </a:p>
        </p:txBody>
      </p:sp>
      <p:sp>
        <p:nvSpPr>
          <p:cNvPr id="20" name="text-18"/>
          <p:cNvSpPr txBox="1"/>
          <p:nvPr/>
        </p:nvSpPr>
        <p:spPr>
          <a:xfrm>
            <a:off x="1371600" y="534924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хотя мог бы получить меньшую сумму</a:t>
            </a:r>
            <a:endParaRPr lang="en-US" sz="1300" dirty="0"/>
          </a:p>
        </p:txBody>
      </p:sp>
      <p:sp>
        <p:nvSpPr>
          <p:cNvPr id="21" name="card-19"/>
          <p:cNvSpPr/>
          <p:nvPr/>
        </p:nvSpPr>
        <p:spPr>
          <a:xfrm>
            <a:off x="4434840" y="1417320"/>
            <a:ext cx="3657600" cy="4663440"/>
          </a:xfrm>
          <a:prstGeom prst="roundRect">
            <a:avLst>
              <a:gd name="adj" fmla="val 3000"/>
            </a:avLst>
          </a:prstGeom>
          <a:solidFill>
            <a:srgbClr val="F3F4F5"/>
          </a:solidFill>
          <a:ln w="9525">
            <a:solidFill>
              <a:srgbClr val="F3F4F5"/>
            </a:solidFill>
            <a:prstDash val="solid"/>
          </a:ln>
        </p:spPr>
      </p:sp>
      <p:sp>
        <p:nvSpPr>
          <p:cNvPr id="22" name="text-20"/>
          <p:cNvSpPr txBox="1"/>
          <p:nvPr/>
        </p:nvSpPr>
        <p:spPr>
          <a:xfrm>
            <a:off x="4709160" y="1600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Банк</a:t>
            </a:r>
            <a:endParaRPr lang="en-US" sz="2000" dirty="0"/>
          </a:p>
        </p:txBody>
      </p:sp>
      <p:sp>
        <p:nvSpPr>
          <p:cNvPr id="23" name="dot-21"/>
          <p:cNvSpPr/>
          <p:nvPr/>
        </p:nvSpPr>
        <p:spPr>
          <a:xfrm>
            <a:off x="4709160" y="2194560"/>
            <a:ext cx="411480" cy="4114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4" name="num-22"/>
          <p:cNvSpPr txBox="1"/>
          <p:nvPr/>
        </p:nvSpPr>
        <p:spPr>
          <a:xfrm>
            <a:off x="4709160" y="2194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25" name="text-23"/>
          <p:cNvSpPr txBox="1"/>
          <p:nvPr/>
        </p:nvSpPr>
        <p:spPr>
          <a:xfrm>
            <a:off x="5257800" y="217627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Данные в пяти системах</a:t>
            </a:r>
            <a:endParaRPr lang="en-US" sz="1500" dirty="0"/>
          </a:p>
        </p:txBody>
      </p:sp>
      <p:sp>
        <p:nvSpPr>
          <p:cNvPr id="26" name="text-24"/>
          <p:cNvSpPr txBox="1"/>
          <p:nvPr/>
        </p:nvSpPr>
        <p:spPr>
          <a:xfrm>
            <a:off x="5257800" y="2523744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ЕГРЮЛ, ФНС, БКИ, антифрод, АБС</a:t>
            </a:r>
            <a:endParaRPr lang="en-US" sz="1300" dirty="0"/>
          </a:p>
        </p:txBody>
      </p:sp>
      <p:sp>
        <p:nvSpPr>
          <p:cNvPr id="27" name="dot-25"/>
          <p:cNvSpPr/>
          <p:nvPr/>
        </p:nvSpPr>
        <p:spPr>
          <a:xfrm>
            <a:off x="4709160" y="3136392"/>
            <a:ext cx="411480" cy="4114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8" name="num-26"/>
          <p:cNvSpPr txBox="1"/>
          <p:nvPr/>
        </p:nvSpPr>
        <p:spPr>
          <a:xfrm>
            <a:off x="4709160" y="31363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29" name="text-27"/>
          <p:cNvSpPr txBox="1"/>
          <p:nvPr/>
        </p:nvSpPr>
        <p:spPr>
          <a:xfrm>
            <a:off x="5257800" y="3118104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Повторные запросы клиенту</a:t>
            </a:r>
            <a:endParaRPr lang="en-US" sz="1500" dirty="0"/>
          </a:p>
        </p:txBody>
      </p:sp>
      <p:sp>
        <p:nvSpPr>
          <p:cNvPr id="30" name="text-28"/>
          <p:cNvSpPr txBox="1"/>
          <p:nvPr/>
        </p:nvSpPr>
        <p:spPr>
          <a:xfrm>
            <a:off x="5257800" y="3465576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по почте и телефону, контекст теряется</a:t>
            </a:r>
            <a:endParaRPr lang="en-US" sz="1300" dirty="0"/>
          </a:p>
        </p:txBody>
      </p:sp>
      <p:sp>
        <p:nvSpPr>
          <p:cNvPr id="31" name="dot-29"/>
          <p:cNvSpPr/>
          <p:nvPr/>
        </p:nvSpPr>
        <p:spPr>
          <a:xfrm>
            <a:off x="4709160" y="4078224"/>
            <a:ext cx="411480" cy="4114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2" name="num-30"/>
          <p:cNvSpPr txBox="1"/>
          <p:nvPr/>
        </p:nvSpPr>
        <p:spPr>
          <a:xfrm>
            <a:off x="4709160" y="40782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33" name="text-31"/>
          <p:cNvSpPr txBox="1"/>
          <p:nvPr/>
        </p:nvSpPr>
        <p:spPr>
          <a:xfrm>
            <a:off x="5257800" y="4059936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Нет рекомендации системы</a:t>
            </a:r>
            <a:endParaRPr lang="en-US" sz="1500" dirty="0"/>
          </a:p>
        </p:txBody>
      </p:sp>
      <p:sp>
        <p:nvSpPr>
          <p:cNvPr id="34" name="text-32"/>
          <p:cNvSpPr txBox="1"/>
          <p:nvPr/>
        </p:nvSpPr>
        <p:spPr>
          <a:xfrm>
            <a:off x="5257800" y="4407408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аналитик собирает картину вручную</a:t>
            </a:r>
            <a:endParaRPr lang="en-US" sz="1300" dirty="0"/>
          </a:p>
        </p:txBody>
      </p:sp>
      <p:sp>
        <p:nvSpPr>
          <p:cNvPr id="35" name="dot-33"/>
          <p:cNvSpPr/>
          <p:nvPr/>
        </p:nvSpPr>
        <p:spPr>
          <a:xfrm>
            <a:off x="4709160" y="5020056"/>
            <a:ext cx="411480" cy="4114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6" name="num-34"/>
          <p:cNvSpPr txBox="1"/>
          <p:nvPr/>
        </p:nvSpPr>
        <p:spPr>
          <a:xfrm>
            <a:off x="4709160" y="50200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37" name="text-35"/>
          <p:cNvSpPr txBox="1"/>
          <p:nvPr/>
        </p:nvSpPr>
        <p:spPr>
          <a:xfrm>
            <a:off x="5257800" y="5001768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Нет сквозной воронки</a:t>
            </a:r>
            <a:endParaRPr lang="en-US" sz="1500" dirty="0"/>
          </a:p>
        </p:txBody>
      </p:sp>
      <p:sp>
        <p:nvSpPr>
          <p:cNvPr id="38" name="text-36"/>
          <p:cNvSpPr txBox="1"/>
          <p:nvPr/>
        </p:nvSpPr>
        <p:spPr>
          <a:xfrm>
            <a:off x="5257800" y="534924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заявка → решение → выдача</a:t>
            </a:r>
            <a:endParaRPr lang="en-US" sz="1300" dirty="0"/>
          </a:p>
        </p:txBody>
      </p:sp>
      <p:sp>
        <p:nvSpPr>
          <p:cNvPr id="39" name="card-37"/>
          <p:cNvSpPr/>
          <p:nvPr/>
        </p:nvSpPr>
        <p:spPr>
          <a:xfrm>
            <a:off x="8412480" y="1417320"/>
            <a:ext cx="3200400" cy="4663440"/>
          </a:xfrm>
          <a:prstGeom prst="roundRect">
            <a:avLst>
              <a:gd name="adj" fmla="val 3429"/>
            </a:avLst>
          </a:prstGeom>
          <a:solidFill>
            <a:srgbClr val="0B1F35"/>
          </a:solidFill>
          <a:ln w="9525">
            <a:solidFill>
              <a:srgbClr val="0B1F35"/>
            </a:solidFill>
            <a:prstDash val="solid"/>
          </a:ln>
        </p:spPr>
      </p:sp>
      <p:sp>
        <p:nvSpPr>
          <p:cNvPr id="40" name="text-38"/>
          <p:cNvSpPr txBox="1"/>
          <p:nvPr/>
        </p:nvSpPr>
        <p:spPr>
          <a:xfrm>
            <a:off x="8686800" y="17830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6,6 млн</a:t>
            </a:r>
            <a:endParaRPr lang="en-US" sz="4800" dirty="0"/>
          </a:p>
        </p:txBody>
      </p:sp>
      <p:sp>
        <p:nvSpPr>
          <p:cNvPr id="41" name="text-39"/>
          <p:cNvSpPr txBox="1"/>
          <p:nvPr/>
        </p:nvSpPr>
        <p:spPr>
          <a:xfrm>
            <a:off x="8686800" y="260604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3DF"/>
                </a:solidFill>
              </a:rPr>
              <a:t>субъектов МСП в реестре (+3,5% за год)</a:t>
            </a:r>
            <a:endParaRPr lang="en-US" sz="1300" dirty="0"/>
          </a:p>
        </p:txBody>
      </p:sp>
      <p:sp>
        <p:nvSpPr>
          <p:cNvPr id="42" name="text-40"/>
          <p:cNvSpPr txBox="1"/>
          <p:nvPr/>
        </p:nvSpPr>
        <p:spPr>
          <a:xfrm>
            <a:off x="8686800" y="338328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1,313 трлн ₽</a:t>
            </a:r>
            <a:endParaRPr lang="en-US" sz="3600" dirty="0"/>
          </a:p>
        </p:txBody>
      </p:sp>
      <p:sp>
        <p:nvSpPr>
          <p:cNvPr id="43" name="text-41"/>
          <p:cNvSpPr txBox="1"/>
          <p:nvPr/>
        </p:nvSpPr>
        <p:spPr>
          <a:xfrm>
            <a:off x="8686800" y="41148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3DF"/>
                </a:solidFill>
              </a:rPr>
              <a:t>кредитов МСП на июль 2026</a:t>
            </a:r>
            <a:endParaRPr lang="en-US" sz="1300" dirty="0"/>
          </a:p>
        </p:txBody>
      </p:sp>
      <p:sp>
        <p:nvSpPr>
          <p:cNvPr id="44" name="text-42"/>
          <p:cNvSpPr txBox="1"/>
          <p:nvPr/>
        </p:nvSpPr>
        <p:spPr>
          <a:xfrm>
            <a:off x="8686800" y="47091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14%</a:t>
            </a:r>
            <a:endParaRPr lang="en-US" sz="4000" dirty="0"/>
          </a:p>
        </p:txBody>
      </p:sp>
      <p:sp>
        <p:nvSpPr>
          <p:cNvPr id="45" name="text-43"/>
          <p:cNvSpPr txBox="1"/>
          <p:nvPr/>
        </p:nvSpPr>
        <p:spPr>
          <a:xfrm>
            <a:off x="8686800" y="539496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3DF"/>
                </a:solidFill>
              </a:rPr>
              <a:t>ключевая ставка — цена ошибки в лимите высока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7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Три принципа CreditFlow</a:t>
            </a:r>
            <a:endParaRPr lang="en-US" sz="3000" dirty="0"/>
          </a:p>
        </p:txBody>
      </p:sp>
      <p:sp>
        <p:nvSpPr>
          <p:cNvPr id="3" name="card-44"/>
          <p:cNvSpPr/>
          <p:nvPr/>
        </p:nvSpPr>
        <p:spPr>
          <a:xfrm>
            <a:off x="548640" y="146304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4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5">
                <a:alpha val="12000"/>
              </a:srgbClr>
            </a:outerShdw>
          </a:effectLst>
        </p:spPr>
      </p:sp>
      <p:sp>
        <p:nvSpPr>
          <p:cNvPr id="4" name="ico-45"/>
          <p:cNvSpPr/>
          <p:nvPr/>
        </p:nvSpPr>
        <p:spPr>
          <a:xfrm>
            <a:off x="868680" y="1783080"/>
            <a:ext cx="777240" cy="77724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icot-46"/>
          <p:cNvSpPr txBox="1"/>
          <p:nvPr/>
        </p:nvSpPr>
        <p:spPr>
          <a:xfrm>
            <a:off x="868680" y="17830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0</a:t>
            </a:r>
            <a:endParaRPr lang="en-US" sz="2600" dirty="0"/>
          </a:p>
        </p:txBody>
      </p:sp>
      <p:sp>
        <p:nvSpPr>
          <p:cNvPr id="6" name="text-47"/>
          <p:cNvSpPr txBox="1"/>
          <p:nvPr/>
        </p:nvSpPr>
        <p:spPr>
          <a:xfrm>
            <a:off x="868680" y="27432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Ноль лишнего ввода</a:t>
            </a:r>
            <a:endParaRPr lang="en-US" sz="2000" dirty="0"/>
          </a:p>
        </p:txBody>
      </p:sp>
      <p:sp>
        <p:nvSpPr>
          <p:cNvPr id="7" name="text-48"/>
          <p:cNvSpPr txBox="1"/>
          <p:nvPr/>
        </p:nvSpPr>
        <p:spPr>
          <a:xfrm>
            <a:off x="868680" y="352044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ИНН → ЕГРЮЛ, финансы из ФНС, кредитная история из БКИ. Клиент подтверждает, а не заполняет. Черновик сохраняется автоматически.</a:t>
            </a:r>
            <a:endParaRPr lang="en-US" sz="1400" dirty="0"/>
          </a:p>
        </p:txBody>
      </p:sp>
      <p:sp>
        <p:nvSpPr>
          <p:cNvPr id="8" name="card-49"/>
          <p:cNvSpPr/>
          <p:nvPr/>
        </p:nvSpPr>
        <p:spPr>
          <a:xfrm>
            <a:off x="4297680" y="146304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4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5">
                <a:alpha val="12000"/>
              </a:srgbClr>
            </a:outerShdw>
          </a:effectLst>
        </p:spPr>
      </p:sp>
      <p:sp>
        <p:nvSpPr>
          <p:cNvPr id="9" name="ico-50"/>
          <p:cNvSpPr/>
          <p:nvPr/>
        </p:nvSpPr>
        <p:spPr>
          <a:xfrm>
            <a:off x="4617720" y="1783080"/>
            <a:ext cx="777240" cy="77724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" name="icot-51"/>
          <p:cNvSpPr txBox="1"/>
          <p:nvPr/>
        </p:nvSpPr>
        <p:spPr>
          <a:xfrm>
            <a:off x="4617720" y="17830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◎</a:t>
            </a:r>
            <a:endParaRPr lang="en-US" sz="2600" dirty="0"/>
          </a:p>
        </p:txBody>
      </p:sp>
      <p:sp>
        <p:nvSpPr>
          <p:cNvPr id="11" name="text-52"/>
          <p:cNvSpPr txBox="1"/>
          <p:nvPr/>
        </p:nvSpPr>
        <p:spPr>
          <a:xfrm>
            <a:off x="4617720" y="27432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Прозрачность на каждом шаге</a:t>
            </a:r>
            <a:endParaRPr lang="en-US" sz="2000" dirty="0"/>
          </a:p>
        </p:txBody>
      </p:sp>
      <p:sp>
        <p:nvSpPr>
          <p:cNvPr id="12" name="text-53"/>
          <p:cNvSpPr txBox="1"/>
          <p:nvPr/>
        </p:nvSpPr>
        <p:spPr>
          <a:xfrm>
            <a:off x="4617720" y="352044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Этапы конвейера видны в реальном времени. У статуса есть «что происходит» и «что нужно от вас». Решение объяснено факторами.</a:t>
            </a:r>
            <a:endParaRPr lang="en-US" sz="1400" dirty="0"/>
          </a:p>
        </p:txBody>
      </p:sp>
      <p:sp>
        <p:nvSpPr>
          <p:cNvPr id="13" name="card-54"/>
          <p:cNvSpPr/>
          <p:nvPr/>
        </p:nvSpPr>
        <p:spPr>
          <a:xfrm>
            <a:off x="8046720" y="146304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4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5">
                <a:alpha val="12000"/>
              </a:srgbClr>
            </a:outerShdw>
          </a:effectLst>
        </p:spPr>
      </p:sp>
      <p:sp>
        <p:nvSpPr>
          <p:cNvPr id="14" name="ico-55"/>
          <p:cNvSpPr/>
          <p:nvPr/>
        </p:nvSpPr>
        <p:spPr>
          <a:xfrm>
            <a:off x="8366760" y="178308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icot-56"/>
          <p:cNvSpPr txBox="1"/>
          <p:nvPr/>
        </p:nvSpPr>
        <p:spPr>
          <a:xfrm>
            <a:off x="8366760" y="17830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↺</a:t>
            </a:r>
            <a:endParaRPr lang="en-US" sz="2600" dirty="0"/>
          </a:p>
        </p:txBody>
      </p:sp>
      <p:sp>
        <p:nvSpPr>
          <p:cNvPr id="16" name="text-57"/>
          <p:cNvSpPr txBox="1"/>
          <p:nvPr/>
        </p:nvSpPr>
        <p:spPr>
          <a:xfrm>
            <a:off x="8366760" y="27432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Не «нет», а «вот как можно»</a:t>
            </a:r>
            <a:endParaRPr lang="en-US" sz="2000" dirty="0"/>
          </a:p>
        </p:txBody>
      </p:sp>
      <p:sp>
        <p:nvSpPr>
          <p:cNvPr id="17" name="text-58"/>
          <p:cNvSpPr txBox="1"/>
          <p:nvPr/>
        </p:nvSpPr>
        <p:spPr>
          <a:xfrm>
            <a:off x="8366760" y="352044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Если запрос не проходит по денежному потоку, модель сама предлагает меньшую сумму, более долгий срок или льготный продукт.</a:t>
            </a:r>
            <a:endParaRPr lang="en-US" sz="1400" dirty="0"/>
          </a:p>
        </p:txBody>
      </p:sp>
      <p:sp>
        <p:nvSpPr>
          <p:cNvPr id="18" name="card-59"/>
          <p:cNvSpPr/>
          <p:nvPr/>
        </p:nvSpPr>
        <p:spPr>
          <a:xfrm>
            <a:off x="548640" y="507492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A"/>
          </a:solidFill>
          <a:ln w="9525">
            <a:solidFill>
              <a:srgbClr val="FDECEA"/>
            </a:solidFill>
            <a:prstDash val="solid"/>
          </a:ln>
        </p:spPr>
      </p:sp>
      <p:sp>
        <p:nvSpPr>
          <p:cNvPr id="19" name="text-60"/>
          <p:cNvSpPr txBox="1"/>
          <p:nvPr/>
        </p:nvSpPr>
        <p:spPr>
          <a:xfrm>
            <a:off x="868680" y="525780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Одна заявка — один журнал событий для клиента и банка. Каждый переход статуса проверяется конечным автоматом, пишется в аудит и порождает уведомление в той же транзакции.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7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Клиентский путь: от задачи до денег за минуты</a:t>
            </a:r>
            <a:endParaRPr lang="en-US" sz="3000" dirty="0"/>
          </a:p>
        </p:txBody>
      </p:sp>
      <p:sp>
        <p:nvSpPr>
          <p:cNvPr id="3" name="dot-61"/>
          <p:cNvSpPr/>
          <p:nvPr/>
        </p:nvSpPr>
        <p:spPr>
          <a:xfrm>
            <a:off x="548640" y="1463040"/>
            <a:ext cx="502920" cy="50292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num-62"/>
          <p:cNvSpPr txBox="1"/>
          <p:nvPr/>
        </p:nvSpPr>
        <p:spPr>
          <a:xfrm>
            <a:off x="54864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ln-63"/>
          <p:cNvSpPr/>
          <p:nvPr/>
        </p:nvSpPr>
        <p:spPr>
          <a:xfrm>
            <a:off x="1097280" y="1714500"/>
            <a:ext cx="1280160" cy="0"/>
          </a:xfrm>
          <a:prstGeom prst="line">
            <a:avLst/>
          </a:prstGeom>
          <a:noFill/>
          <a:ln w="25400">
            <a:solidFill>
              <a:srgbClr val="CFD5DC"/>
            </a:solidFill>
            <a:prstDash val="solid"/>
          </a:ln>
        </p:spPr>
      </p:sp>
      <p:sp>
        <p:nvSpPr>
          <p:cNvPr id="6" name="text-64"/>
          <p:cNvSpPr txBox="1"/>
          <p:nvPr/>
        </p:nvSpPr>
        <p:spPr>
          <a:xfrm>
            <a:off x="548640" y="21031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Подбор</a:t>
            </a:r>
            <a:endParaRPr lang="en-US" sz="1600" dirty="0"/>
          </a:p>
        </p:txBody>
      </p:sp>
      <p:sp>
        <p:nvSpPr>
          <p:cNvPr id="7" name="text-65"/>
          <p:cNvSpPr txBox="1"/>
          <p:nvPr/>
        </p:nvSpPr>
        <p:spPr>
          <a:xfrm>
            <a:off x="548640" y="246888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анкета или текст «нужно 3 млн на печь»</a:t>
            </a:r>
            <a:endParaRPr lang="en-US" sz="1200" dirty="0"/>
          </a:p>
        </p:txBody>
      </p:sp>
      <p:sp>
        <p:nvSpPr>
          <p:cNvPr id="8" name="dot-66"/>
          <p:cNvSpPr/>
          <p:nvPr/>
        </p:nvSpPr>
        <p:spPr>
          <a:xfrm>
            <a:off x="2423160" y="1463040"/>
            <a:ext cx="502920" cy="50292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9" name="num-67"/>
          <p:cNvSpPr txBox="1"/>
          <p:nvPr/>
        </p:nvSpPr>
        <p:spPr>
          <a:xfrm>
            <a:off x="242316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ln-68"/>
          <p:cNvSpPr/>
          <p:nvPr/>
        </p:nvSpPr>
        <p:spPr>
          <a:xfrm>
            <a:off x="2971800" y="1714500"/>
            <a:ext cx="1280160" cy="0"/>
          </a:xfrm>
          <a:prstGeom prst="line">
            <a:avLst/>
          </a:prstGeom>
          <a:noFill/>
          <a:ln w="25400">
            <a:solidFill>
              <a:srgbClr val="CFD5DC"/>
            </a:solidFill>
            <a:prstDash val="solid"/>
          </a:ln>
        </p:spPr>
      </p:sp>
      <p:sp>
        <p:nvSpPr>
          <p:cNvPr id="11" name="text-69"/>
          <p:cNvSpPr txBox="1"/>
          <p:nvPr/>
        </p:nvSpPr>
        <p:spPr>
          <a:xfrm>
            <a:off x="2423160" y="21031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Заявка</a:t>
            </a:r>
            <a:endParaRPr lang="en-US" sz="1600" dirty="0"/>
          </a:p>
        </p:txBody>
      </p:sp>
      <p:sp>
        <p:nvSpPr>
          <p:cNvPr id="12" name="text-70"/>
          <p:cNvSpPr txBox="1"/>
          <p:nvPr/>
        </p:nvSpPr>
        <p:spPr>
          <a:xfrm>
            <a:off x="2423160" y="246888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ЕГРЮЛ и ФНС подставлены, автосохранение</a:t>
            </a:r>
            <a:endParaRPr lang="en-US" sz="1200" dirty="0"/>
          </a:p>
        </p:txBody>
      </p:sp>
      <p:sp>
        <p:nvSpPr>
          <p:cNvPr id="13" name="dot-71"/>
          <p:cNvSpPr/>
          <p:nvPr/>
        </p:nvSpPr>
        <p:spPr>
          <a:xfrm>
            <a:off x="4297680" y="1463040"/>
            <a:ext cx="502920" cy="50292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4" name="num-72"/>
          <p:cNvSpPr txBox="1"/>
          <p:nvPr/>
        </p:nvSpPr>
        <p:spPr>
          <a:xfrm>
            <a:off x="429768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ln-73"/>
          <p:cNvSpPr/>
          <p:nvPr/>
        </p:nvSpPr>
        <p:spPr>
          <a:xfrm>
            <a:off x="4846320" y="1714500"/>
            <a:ext cx="1280160" cy="0"/>
          </a:xfrm>
          <a:prstGeom prst="line">
            <a:avLst/>
          </a:prstGeom>
          <a:noFill/>
          <a:ln w="25400">
            <a:solidFill>
              <a:srgbClr val="CFD5DC"/>
            </a:solidFill>
            <a:prstDash val="solid"/>
          </a:ln>
        </p:spPr>
      </p:sp>
      <p:sp>
        <p:nvSpPr>
          <p:cNvPr id="16" name="text-74"/>
          <p:cNvSpPr txBox="1"/>
          <p:nvPr/>
        </p:nvSpPr>
        <p:spPr>
          <a:xfrm>
            <a:off x="4297680" y="21031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Проверка</a:t>
            </a:r>
            <a:endParaRPr lang="en-US" sz="1600" dirty="0"/>
          </a:p>
        </p:txBody>
      </p:sp>
      <p:sp>
        <p:nvSpPr>
          <p:cNvPr id="17" name="text-75"/>
          <p:cNvSpPr txBox="1"/>
          <p:nvPr/>
        </p:nvSpPr>
        <p:spPr>
          <a:xfrm>
            <a:off x="4297680" y="246888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полнота, ЕГРЮЛ, ФНС, БКИ, антифрод</a:t>
            </a:r>
            <a:endParaRPr lang="en-US" sz="1200" dirty="0"/>
          </a:p>
        </p:txBody>
      </p:sp>
      <p:sp>
        <p:nvSpPr>
          <p:cNvPr id="18" name="dot-76"/>
          <p:cNvSpPr/>
          <p:nvPr/>
        </p:nvSpPr>
        <p:spPr>
          <a:xfrm>
            <a:off x="6172200" y="14630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num-77"/>
          <p:cNvSpPr txBox="1"/>
          <p:nvPr/>
        </p:nvSpPr>
        <p:spPr>
          <a:xfrm>
            <a:off x="617220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0" name="ln-78"/>
          <p:cNvSpPr/>
          <p:nvPr/>
        </p:nvSpPr>
        <p:spPr>
          <a:xfrm>
            <a:off x="6720840" y="1714500"/>
            <a:ext cx="1280160" cy="0"/>
          </a:xfrm>
          <a:prstGeom prst="line">
            <a:avLst/>
          </a:prstGeom>
          <a:noFill/>
          <a:ln w="25400">
            <a:solidFill>
              <a:srgbClr val="CFD5DC"/>
            </a:solidFill>
            <a:prstDash val="solid"/>
          </a:ln>
        </p:spPr>
      </p:sp>
      <p:sp>
        <p:nvSpPr>
          <p:cNvPr id="21" name="text-79"/>
          <p:cNvSpPr txBox="1"/>
          <p:nvPr/>
        </p:nvSpPr>
        <p:spPr>
          <a:xfrm>
            <a:off x="6172200" y="21031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Решение</a:t>
            </a:r>
            <a:endParaRPr lang="en-US" sz="1600" dirty="0"/>
          </a:p>
        </p:txBody>
      </p:sp>
      <p:sp>
        <p:nvSpPr>
          <p:cNvPr id="22" name="text-80"/>
          <p:cNvSpPr txBox="1"/>
          <p:nvPr/>
        </p:nvSpPr>
        <p:spPr>
          <a:xfrm>
            <a:off x="6172200" y="246888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одобрение, встречное предложение, отказ с причинами</a:t>
            </a:r>
            <a:endParaRPr lang="en-US" sz="1200" dirty="0"/>
          </a:p>
        </p:txBody>
      </p:sp>
      <p:sp>
        <p:nvSpPr>
          <p:cNvPr id="23" name="dot-81"/>
          <p:cNvSpPr/>
          <p:nvPr/>
        </p:nvSpPr>
        <p:spPr>
          <a:xfrm>
            <a:off x="8046720" y="1463040"/>
            <a:ext cx="502920" cy="50292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4" name="num-82"/>
          <p:cNvSpPr txBox="1"/>
          <p:nvPr/>
        </p:nvSpPr>
        <p:spPr>
          <a:xfrm>
            <a:off x="804672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5" name="ln-83"/>
          <p:cNvSpPr/>
          <p:nvPr/>
        </p:nvSpPr>
        <p:spPr>
          <a:xfrm>
            <a:off x="8595360" y="1714500"/>
            <a:ext cx="1280160" cy="0"/>
          </a:xfrm>
          <a:prstGeom prst="line">
            <a:avLst/>
          </a:prstGeom>
          <a:noFill/>
          <a:ln w="25400">
            <a:solidFill>
              <a:srgbClr val="CFD5DC"/>
            </a:solidFill>
            <a:prstDash val="solid"/>
          </a:ln>
        </p:spPr>
      </p:sp>
      <p:sp>
        <p:nvSpPr>
          <p:cNvPr id="26" name="text-84"/>
          <p:cNvSpPr txBox="1"/>
          <p:nvPr/>
        </p:nvSpPr>
        <p:spPr>
          <a:xfrm>
            <a:off x="8046720" y="21031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Договор</a:t>
            </a:r>
            <a:endParaRPr lang="en-US" sz="1600" dirty="0"/>
          </a:p>
        </p:txBody>
      </p:sp>
      <p:sp>
        <p:nvSpPr>
          <p:cNvPr id="27" name="text-85"/>
          <p:cNvSpPr txBox="1"/>
          <p:nvPr/>
        </p:nvSpPr>
        <p:spPr>
          <a:xfrm>
            <a:off x="8046720" y="246888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подпись кодом из уведомлений</a:t>
            </a:r>
            <a:endParaRPr lang="en-US" sz="1200" dirty="0"/>
          </a:p>
        </p:txBody>
      </p:sp>
      <p:sp>
        <p:nvSpPr>
          <p:cNvPr id="28" name="dot-86"/>
          <p:cNvSpPr/>
          <p:nvPr/>
        </p:nvSpPr>
        <p:spPr>
          <a:xfrm>
            <a:off x="9921240" y="1463040"/>
            <a:ext cx="502920" cy="50292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9" name="num-87"/>
          <p:cNvSpPr txBox="1"/>
          <p:nvPr/>
        </p:nvSpPr>
        <p:spPr>
          <a:xfrm>
            <a:off x="992124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30" name="text-88"/>
          <p:cNvSpPr txBox="1"/>
          <p:nvPr/>
        </p:nvSpPr>
        <p:spPr>
          <a:xfrm>
            <a:off x="9921240" y="21031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Деньги</a:t>
            </a:r>
            <a:endParaRPr lang="en-US" sz="1600" dirty="0"/>
          </a:p>
        </p:txBody>
      </p:sp>
      <p:sp>
        <p:nvSpPr>
          <p:cNvPr id="31" name="text-89"/>
          <p:cNvSpPr txBox="1"/>
          <p:nvPr/>
        </p:nvSpPr>
        <p:spPr>
          <a:xfrm>
            <a:off x="9921240" y="246888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зачисление и график платежей</a:t>
            </a:r>
            <a:endParaRPr lang="en-US" sz="1200" dirty="0"/>
          </a:p>
        </p:txBody>
      </p:sp>
      <p:sp>
        <p:nvSpPr>
          <p:cNvPr id="32" name="frame-90"/>
          <p:cNvSpPr/>
          <p:nvPr/>
        </p:nvSpPr>
        <p:spPr>
          <a:xfrm>
            <a:off x="493776" y="3374136"/>
            <a:ext cx="3767328" cy="2852928"/>
          </a:xfrm>
          <a:prstGeom prst="roundRect">
            <a:avLst>
              <a:gd name="adj" fmla="val 2564"/>
            </a:avLst>
          </a:prstGeom>
          <a:solidFill>
            <a:srgbClr val="F3F4F5"/>
          </a:solidFill>
          <a:ln w="9525">
            <a:solidFill>
              <a:srgbClr val="E4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5">
                <a:alpha val="18000"/>
              </a:srgbClr>
            </a:outerShdw>
          </a:effectLst>
        </p:spPr>
      </p:sp>
      <p:pic>
        <p:nvPicPr>
          <p:cNvPr id="33" name="shot-91" descr="C:\Users\user\Desktop\University\Hackatons\Alfa-hack\smart-credit-cabinet\docs\pitch\screenshots\01-assistan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429000"/>
            <a:ext cx="3657600" cy="2743200"/>
          </a:xfrm>
          <a:prstGeom prst="rect">
            <a:avLst/>
          </a:prstGeom>
        </p:spPr>
      </p:pic>
      <p:sp>
        <p:nvSpPr>
          <p:cNvPr id="34" name="frame-92"/>
          <p:cNvSpPr/>
          <p:nvPr/>
        </p:nvSpPr>
        <p:spPr>
          <a:xfrm>
            <a:off x="4288536" y="3374136"/>
            <a:ext cx="3767328" cy="2852928"/>
          </a:xfrm>
          <a:prstGeom prst="roundRect">
            <a:avLst>
              <a:gd name="adj" fmla="val 2564"/>
            </a:avLst>
          </a:prstGeom>
          <a:solidFill>
            <a:srgbClr val="F3F4F5"/>
          </a:solidFill>
          <a:ln w="9525">
            <a:solidFill>
              <a:srgbClr val="E4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5">
                <a:alpha val="18000"/>
              </a:srgbClr>
            </a:outerShdw>
          </a:effectLst>
        </p:spPr>
      </p:sp>
      <p:pic>
        <p:nvPicPr>
          <p:cNvPr id="35" name="shot-93" descr="C:\Users\user\Desktop\University\Hackatons\Alfa-hack\smart-credit-cabinet\docs\pitch\screenshots\02-live-statu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3429000"/>
            <a:ext cx="3657600" cy="2743200"/>
          </a:xfrm>
          <a:prstGeom prst="rect">
            <a:avLst/>
          </a:prstGeom>
        </p:spPr>
      </p:pic>
      <p:sp>
        <p:nvSpPr>
          <p:cNvPr id="36" name="card-94"/>
          <p:cNvSpPr/>
          <p:nvPr/>
        </p:nvSpPr>
        <p:spPr>
          <a:xfrm>
            <a:off x="8229600" y="3383280"/>
            <a:ext cx="3383280" cy="2788920"/>
          </a:xfrm>
          <a:prstGeom prst="roundRect">
            <a:avLst>
              <a:gd name="adj" fmla="val 3934"/>
            </a:avLst>
          </a:prstGeom>
          <a:solidFill>
            <a:srgbClr val="F3F4F5"/>
          </a:solidFill>
          <a:ln w="9525">
            <a:solidFill>
              <a:srgbClr val="F3F4F5"/>
            </a:solidFill>
            <a:prstDash val="solid"/>
          </a:ln>
        </p:spPr>
      </p:sp>
      <p:sp>
        <p:nvSpPr>
          <p:cNvPr id="37" name="text-95"/>
          <p:cNvSpPr txBox="1"/>
          <p:nvPr/>
        </p:nvSpPr>
        <p:spPr>
          <a:xfrm>
            <a:off x="8503920" y="35661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Что видит клиент</a:t>
            </a:r>
            <a:endParaRPr lang="en-US" sz="1600" dirty="0"/>
          </a:p>
        </p:txBody>
      </p:sp>
      <p:sp>
        <p:nvSpPr>
          <p:cNvPr id="38" name="client-sees"/>
          <p:cNvSpPr txBox="1"/>
          <p:nvPr/>
        </p:nvSpPr>
        <p:spPr>
          <a:xfrm>
            <a:off x="8503920" y="3977640"/>
            <a:ext cx="2971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Этап и подсказку «что дальше»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Таймлайн всех событий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Уведомления только в кабинете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Запрос банка с чек-листом прямо в заявке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7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Встречное предложение вместо отказа</a:t>
            </a:r>
            <a:endParaRPr lang="en-US" sz="3000" dirty="0"/>
          </a:p>
        </p:txBody>
      </p:sp>
      <p:sp>
        <p:nvSpPr>
          <p:cNvPr id="3" name="frame-96"/>
          <p:cNvSpPr/>
          <p:nvPr/>
        </p:nvSpPr>
        <p:spPr>
          <a:xfrm>
            <a:off x="493776" y="1362456"/>
            <a:ext cx="6693408" cy="4273906"/>
          </a:xfrm>
          <a:prstGeom prst="roundRect">
            <a:avLst>
              <a:gd name="adj" fmla="val 1712"/>
            </a:avLst>
          </a:prstGeom>
          <a:solidFill>
            <a:srgbClr val="F3F4F5"/>
          </a:solidFill>
          <a:ln w="9525">
            <a:solidFill>
              <a:srgbClr val="E4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5">
                <a:alpha val="18000"/>
              </a:srgbClr>
            </a:outerShdw>
          </a:effectLst>
        </p:spPr>
      </p:sp>
      <p:pic>
        <p:nvPicPr>
          <p:cNvPr id="4" name="shot-97" descr="C:\Users\user\Desktop\University\Hackatons\Alfa-hack\smart-credit-cabinet\docs\pitch\screenshots\03-counter-off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6583680" cy="4164178"/>
          </a:xfrm>
          <a:prstGeom prst="rect">
            <a:avLst/>
          </a:prstGeom>
        </p:spPr>
      </p:pic>
      <p:sp>
        <p:nvSpPr>
          <p:cNvPr id="5" name="text-98"/>
          <p:cNvSpPr txBox="1"/>
          <p:nvPr/>
        </p:nvSpPr>
        <p:spPr>
          <a:xfrm>
            <a:off x="7543800" y="14630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ИП Смирнов просил 5 млн</a:t>
            </a:r>
            <a:endParaRPr lang="en-US" sz="2000" dirty="0"/>
          </a:p>
        </p:txBody>
      </p:sp>
      <p:sp>
        <p:nvSpPr>
          <p:cNvPr id="6" name="text-99"/>
          <p:cNvSpPr txBox="1"/>
          <p:nvPr/>
        </p:nvSpPr>
        <p:spPr>
          <a:xfrm>
            <a:off x="7543800" y="192024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Денежного потока хватает на платёж до 119 тыс. ₽ в месяц, а 5 млн на 24 месяца — это 259 тыс. Отказ потерял бы клиента.</a:t>
            </a:r>
            <a:endParaRPr lang="en-US" sz="1500" dirty="0"/>
          </a:p>
        </p:txBody>
      </p:sp>
      <p:sp>
        <p:nvSpPr>
          <p:cNvPr id="7" name="card-100"/>
          <p:cNvSpPr/>
          <p:nvPr/>
        </p:nvSpPr>
        <p:spPr>
          <a:xfrm>
            <a:off x="7543800" y="3154680"/>
            <a:ext cx="4069080" cy="822960"/>
          </a:xfrm>
          <a:prstGeom prst="roundRect">
            <a:avLst>
              <a:gd name="adj" fmla="val 13333"/>
            </a:avLst>
          </a:prstGeom>
          <a:solidFill>
            <a:srgbClr val="E5F6EC"/>
          </a:solidFill>
          <a:ln w="9525">
            <a:solidFill>
              <a:srgbClr val="E5F6EC"/>
            </a:solidFill>
            <a:prstDash val="solid"/>
          </a:ln>
        </p:spPr>
      </p:sp>
      <p:sp>
        <p:nvSpPr>
          <p:cNvPr id="8" name="text-101"/>
          <p:cNvSpPr txBox="1"/>
          <p:nvPr/>
        </p:nvSpPr>
        <p:spPr>
          <a:xfrm>
            <a:off x="7772400" y="3246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2,3 млн под 21,5%</a:t>
            </a:r>
            <a:endParaRPr lang="en-US" sz="1600" dirty="0"/>
          </a:p>
        </p:txBody>
      </p:sp>
      <p:sp>
        <p:nvSpPr>
          <p:cNvPr id="9" name="text-102"/>
          <p:cNvSpPr txBox="1"/>
          <p:nvPr/>
        </p:nvSpPr>
        <p:spPr>
          <a:xfrm>
            <a:off x="7772400" y="35935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меньшая сумма на тот же срок</a:t>
            </a:r>
            <a:endParaRPr lang="en-US" sz="1300" dirty="0"/>
          </a:p>
        </p:txBody>
      </p:sp>
      <p:sp>
        <p:nvSpPr>
          <p:cNvPr id="10" name="card-103"/>
          <p:cNvSpPr/>
          <p:nvPr/>
        </p:nvSpPr>
        <p:spPr>
          <a:xfrm>
            <a:off x="7543800" y="4114800"/>
            <a:ext cx="4069080" cy="822960"/>
          </a:xfrm>
          <a:prstGeom prst="roundRect">
            <a:avLst>
              <a:gd name="adj" fmla="val 13333"/>
            </a:avLst>
          </a:prstGeom>
          <a:solidFill>
            <a:srgbClr val="E5F6EC"/>
          </a:solidFill>
          <a:ln w="9525">
            <a:solidFill>
              <a:srgbClr val="E5F6EC"/>
            </a:solidFill>
            <a:prstDash val="solid"/>
          </a:ln>
        </p:spPr>
      </p:sp>
      <p:sp>
        <p:nvSpPr>
          <p:cNvPr id="11" name="text-104"/>
          <p:cNvSpPr txBox="1"/>
          <p:nvPr/>
        </p:nvSpPr>
        <p:spPr>
          <a:xfrm>
            <a:off x="7772400" y="4206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2,35 млн под 18,25%</a:t>
            </a:r>
            <a:endParaRPr lang="en-US" sz="1600" dirty="0"/>
          </a:p>
        </p:txBody>
      </p:sp>
      <p:sp>
        <p:nvSpPr>
          <p:cNvPr id="12" name="text-105"/>
          <p:cNvSpPr txBox="1"/>
          <p:nvPr/>
        </p:nvSpPr>
        <p:spPr>
          <a:xfrm>
            <a:off x="7772400" y="45537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льготный кредит МСП: отрасль приоритетная</a:t>
            </a:r>
            <a:endParaRPr lang="en-US" sz="1300" dirty="0"/>
          </a:p>
        </p:txBody>
      </p:sp>
      <p:sp>
        <p:nvSpPr>
          <p:cNvPr id="13" name="card-106"/>
          <p:cNvSpPr/>
          <p:nvPr/>
        </p:nvSpPr>
        <p:spPr>
          <a:xfrm>
            <a:off x="7543800" y="5074920"/>
            <a:ext cx="4069080" cy="822960"/>
          </a:xfrm>
          <a:prstGeom prst="roundRect">
            <a:avLst>
              <a:gd name="adj" fmla="val 13333"/>
            </a:avLst>
          </a:prstGeom>
          <a:solidFill>
            <a:srgbClr val="F3F4F5"/>
          </a:solidFill>
          <a:ln w="9525">
            <a:solidFill>
              <a:srgbClr val="F3F4F5"/>
            </a:solidFill>
            <a:prstDash val="solid"/>
          </a:ln>
        </p:spPr>
      </p:sp>
      <p:sp>
        <p:nvSpPr>
          <p:cNvPr id="14" name="text-107"/>
          <p:cNvSpPr txBox="1"/>
          <p:nvPr/>
        </p:nvSpPr>
        <p:spPr>
          <a:xfrm>
            <a:off x="7772400" y="5166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Причины и советы</a:t>
            </a:r>
            <a:endParaRPr lang="en-US" sz="1600" dirty="0"/>
          </a:p>
        </p:txBody>
      </p:sp>
      <p:sp>
        <p:nvSpPr>
          <p:cNvPr id="15" name="text-108"/>
          <p:cNvSpPr txBox="1"/>
          <p:nvPr/>
        </p:nvSpPr>
        <p:spPr>
          <a:xfrm>
            <a:off x="7772400" y="55138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что повлияло на решение — без внутренних баллов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7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Скоринг ≠ решение: три слоя модели</a:t>
            </a:r>
            <a:endParaRPr lang="en-US" sz="3000" dirty="0"/>
          </a:p>
        </p:txBody>
      </p:sp>
      <p:sp>
        <p:nvSpPr>
          <p:cNvPr id="3" name="card-109"/>
          <p:cNvSpPr/>
          <p:nvPr/>
        </p:nvSpPr>
        <p:spPr>
          <a:xfrm>
            <a:off x="548640" y="1417320"/>
            <a:ext cx="3520440" cy="2194560"/>
          </a:xfrm>
          <a:prstGeom prst="roundRect">
            <a:avLst>
              <a:gd name="adj" fmla="val 5000"/>
            </a:avLst>
          </a:prstGeom>
          <a:solidFill>
            <a:srgbClr val="F3F4F5"/>
          </a:solidFill>
          <a:ln w="9525">
            <a:solidFill>
              <a:srgbClr val="F3F4F5"/>
            </a:solidFill>
            <a:prstDash val="solid"/>
          </a:ln>
        </p:spPr>
      </p:sp>
      <p:sp>
        <p:nvSpPr>
          <p:cNvPr id="4" name="text-110"/>
          <p:cNvSpPr txBox="1"/>
          <p:nvPr/>
        </p:nvSpPr>
        <p:spPr>
          <a:xfrm>
            <a:off x="822960" y="16002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1. Политика</a:t>
            </a:r>
            <a:endParaRPr lang="en-US" sz="2000" dirty="0"/>
          </a:p>
        </p:txBody>
      </p:sp>
      <p:sp>
        <p:nvSpPr>
          <p:cNvPr id="5" name="text-111"/>
          <p:cNvSpPr txBox="1"/>
          <p:nvPr/>
        </p:nvSpPr>
        <p:spPr>
          <a:xfrm>
            <a:off x="822960" y="20574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7 стоп-факторов и 7 триггеров ручного рассмотрения</a:t>
            </a:r>
            <a:endParaRPr lang="en-US" sz="1500" dirty="0"/>
          </a:p>
        </p:txBody>
      </p:sp>
      <p:sp>
        <p:nvSpPr>
          <p:cNvPr id="6" name="text-112"/>
          <p:cNvSpPr txBox="1"/>
          <p:nvPr/>
        </p:nvSpPr>
        <p:spPr>
          <a:xfrm>
            <a:off x="822960" y="2651760"/>
            <a:ext cx="3017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ликвидация, дисквалификация, просрочка &gt; 90 дн, недоимка &gt; 500 тыс.; отметки ФНС, сбой источника, сумма &gt; 10 млн</a:t>
            </a:r>
            <a:endParaRPr lang="en-US" sz="1200" dirty="0"/>
          </a:p>
        </p:txBody>
      </p:sp>
      <p:sp>
        <p:nvSpPr>
          <p:cNvPr id="7" name="card-113"/>
          <p:cNvSpPr/>
          <p:nvPr/>
        </p:nvSpPr>
        <p:spPr>
          <a:xfrm>
            <a:off x="4297680" y="1417320"/>
            <a:ext cx="3520440" cy="2194560"/>
          </a:xfrm>
          <a:prstGeom prst="roundRect">
            <a:avLst>
              <a:gd name="adj" fmla="val 5000"/>
            </a:avLst>
          </a:prstGeom>
          <a:solidFill>
            <a:srgbClr val="F3F4F5"/>
          </a:solidFill>
          <a:ln w="9525">
            <a:solidFill>
              <a:srgbClr val="F3F4F5"/>
            </a:solidFill>
            <a:prstDash val="solid"/>
          </a:ln>
        </p:spPr>
      </p:sp>
      <p:sp>
        <p:nvSpPr>
          <p:cNvPr id="8" name="text-114"/>
          <p:cNvSpPr txBox="1"/>
          <p:nvPr/>
        </p:nvSpPr>
        <p:spPr>
          <a:xfrm>
            <a:off x="4572000" y="16002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2. Балльная карта</a:t>
            </a:r>
            <a:endParaRPr lang="en-US" sz="2000" dirty="0"/>
          </a:p>
        </p:txBody>
      </p:sp>
      <p:sp>
        <p:nvSpPr>
          <p:cNvPr id="9" name="text-115"/>
          <p:cNvSpPr txBox="1"/>
          <p:nvPr/>
        </p:nvSpPr>
        <p:spPr>
          <a:xfrm>
            <a:off x="4572000" y="20574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Риск заёмщика: A–E и PD</a:t>
            </a:r>
            <a:endParaRPr lang="en-US" sz="1500" dirty="0"/>
          </a:p>
        </p:txBody>
      </p:sp>
      <p:sp>
        <p:nvSpPr>
          <p:cNvPr id="10" name="text-116"/>
          <p:cNvSpPr txBox="1"/>
          <p:nvPr/>
        </p:nvSpPr>
        <p:spPr>
          <a:xfrm>
            <a:off x="4572000" y="2651760"/>
            <a:ext cx="3017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10 факторов: срок, рентабельность, нагрузка, БКИ, просрочки, налоги, отношения с банком, отрасль, обеспечение. Не зависит от суммы</a:t>
            </a:r>
            <a:endParaRPr lang="en-US" sz="1200" dirty="0"/>
          </a:p>
        </p:txBody>
      </p:sp>
      <p:sp>
        <p:nvSpPr>
          <p:cNvPr id="11" name="card-117"/>
          <p:cNvSpPr/>
          <p:nvPr/>
        </p:nvSpPr>
        <p:spPr>
          <a:xfrm>
            <a:off x="8046720" y="1417320"/>
            <a:ext cx="3520440" cy="2194560"/>
          </a:xfrm>
          <a:prstGeom prst="roundRect">
            <a:avLst>
              <a:gd name="adj" fmla="val 5000"/>
            </a:avLst>
          </a:prstGeom>
          <a:solidFill>
            <a:srgbClr val="0B1F35"/>
          </a:solidFill>
          <a:ln w="9525">
            <a:solidFill>
              <a:srgbClr val="0B1F35"/>
            </a:solidFill>
            <a:prstDash val="solid"/>
          </a:ln>
        </p:spPr>
      </p:sp>
      <p:sp>
        <p:nvSpPr>
          <p:cNvPr id="12" name="text-118"/>
          <p:cNvSpPr txBox="1"/>
          <p:nvPr/>
        </p:nvSpPr>
        <p:spPr>
          <a:xfrm>
            <a:off x="8321040" y="16002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3. Кредитная логика</a:t>
            </a:r>
            <a:endParaRPr lang="en-US" sz="2000" dirty="0"/>
          </a:p>
        </p:txBody>
      </p:sp>
      <p:sp>
        <p:nvSpPr>
          <p:cNvPr id="13" name="text-119"/>
          <p:cNvSpPr txBox="1"/>
          <p:nvPr/>
        </p:nvSpPr>
        <p:spPr>
          <a:xfrm>
            <a:off x="8321040" y="20574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Ставка, лимит, исход</a:t>
            </a:r>
            <a:endParaRPr lang="en-US" sz="1500" dirty="0"/>
          </a:p>
        </p:txBody>
      </p:sp>
      <p:sp>
        <p:nvSpPr>
          <p:cNvPr id="14" name="text-120"/>
          <p:cNvSpPr txBox="1"/>
          <p:nvPr/>
        </p:nvSpPr>
        <p:spPr>
          <a:xfrm>
            <a:off x="8321040" y="2651760"/>
            <a:ext cx="3017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3DF"/>
                </a:solidFill>
              </a:rPr>
              <a:t>ключевая + маржа + риск; лимит по DSCR ≥ 1,3; альтернативы: меньше сумма / дольше срок / другой продукт</a:t>
            </a:r>
            <a:endParaRPr lang="en-US" sz="1200" dirty="0"/>
          </a:p>
        </p:txBody>
      </p:sp>
      <p:graphicFrame>
        <p:nvGraphicFramePr>
          <p:cNvPr id="7" name="outcom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977640"/>
          <a:ext cx="110642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188720"/>
                <a:gridCol w="3657600"/>
                <a:gridCol w="356616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Клиент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Рейтинг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Ключевое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Исход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ООО «Хлебный Дом»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· 695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лет, маржа 19%, клиент банка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Автоодобрение 3 млн, 19,5%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ИП Смирнов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· 560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просрочка 12 дн, поток мал для 5 млн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Встречное: 2,3 млн / льготный 2,35 млн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ООО «СтройМонтаж Плюс»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 · 480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просрочка 45 дн, массовый адрес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Запрос отчётности → специалист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ООО «Ромашка Трейд»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дисквалификация, недоимка 1,2 млн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Отказ с причинами и советами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7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Рабочее место аналитика: решение за минуты</a:t>
            </a:r>
            <a:endParaRPr lang="en-US" sz="3000" dirty="0"/>
          </a:p>
        </p:txBody>
      </p:sp>
      <p:sp>
        <p:nvSpPr>
          <p:cNvPr id="3" name="frame-121"/>
          <p:cNvSpPr/>
          <p:nvPr/>
        </p:nvSpPr>
        <p:spPr>
          <a:xfrm>
            <a:off x="493776" y="1362456"/>
            <a:ext cx="7059168" cy="4453128"/>
          </a:xfrm>
          <a:prstGeom prst="roundRect">
            <a:avLst>
              <a:gd name="adj" fmla="val 1643"/>
            </a:avLst>
          </a:prstGeom>
          <a:solidFill>
            <a:srgbClr val="F3F4F5"/>
          </a:solidFill>
          <a:ln w="9525">
            <a:solidFill>
              <a:srgbClr val="E4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5">
                <a:alpha val="18000"/>
              </a:srgbClr>
            </a:outerShdw>
          </a:effectLst>
        </p:spPr>
      </p:sp>
      <p:pic>
        <p:nvPicPr>
          <p:cNvPr id="4" name="shot-122" descr="C:\Users\user\Desktop\University\Hackatons\Alfa-hack\smart-credit-cabinet\docs\pitch\screenshots\05-analyst-car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6949440" cy="4343400"/>
          </a:xfrm>
          <a:prstGeom prst="rect">
            <a:avLst/>
          </a:prstGeom>
        </p:spPr>
      </p:pic>
      <p:sp>
        <p:nvSpPr>
          <p:cNvPr id="5" name="dot-123"/>
          <p:cNvSpPr/>
          <p:nvPr/>
        </p:nvSpPr>
        <p:spPr>
          <a:xfrm>
            <a:off x="7863840" y="1463040"/>
            <a:ext cx="411480" cy="4114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num-124"/>
          <p:cNvSpPr txBox="1"/>
          <p:nvPr/>
        </p:nvSpPr>
        <p:spPr>
          <a:xfrm>
            <a:off x="786384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✓</a:t>
            </a:r>
            <a:endParaRPr lang="en-US" sz="1600" dirty="0"/>
          </a:p>
        </p:txBody>
      </p:sp>
      <p:sp>
        <p:nvSpPr>
          <p:cNvPr id="7" name="text-125"/>
          <p:cNvSpPr txBox="1"/>
          <p:nvPr/>
        </p:nvSpPr>
        <p:spPr>
          <a:xfrm>
            <a:off x="8412480" y="14356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Все источники на одной странице</a:t>
            </a:r>
            <a:endParaRPr lang="en-US" sz="1500" dirty="0"/>
          </a:p>
        </p:txBody>
      </p:sp>
      <p:sp>
        <p:nvSpPr>
          <p:cNvPr id="8" name="text-126"/>
          <p:cNvSpPr txBox="1"/>
          <p:nvPr/>
        </p:nvSpPr>
        <p:spPr>
          <a:xfrm>
            <a:off x="8412480" y="176479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ЕГРЮЛ, ФНС, БКИ, антифрод, счета, документы</a:t>
            </a:r>
            <a:endParaRPr lang="en-US" sz="1300" dirty="0"/>
          </a:p>
        </p:txBody>
      </p:sp>
      <p:sp>
        <p:nvSpPr>
          <p:cNvPr id="9" name="dot-127"/>
          <p:cNvSpPr/>
          <p:nvPr/>
        </p:nvSpPr>
        <p:spPr>
          <a:xfrm>
            <a:off x="7863840" y="2377440"/>
            <a:ext cx="411480" cy="4114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num-128"/>
          <p:cNvSpPr txBox="1"/>
          <p:nvPr/>
        </p:nvSpPr>
        <p:spPr>
          <a:xfrm>
            <a:off x="7863840" y="2377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ext-129"/>
          <p:cNvSpPr txBox="1"/>
          <p:nvPr/>
        </p:nvSpPr>
        <p:spPr>
          <a:xfrm>
            <a:off x="8412480" y="23500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Рекомендация системы и ИИ-резюме</a:t>
            </a:r>
            <a:endParaRPr lang="en-US" sz="1500" dirty="0"/>
          </a:p>
        </p:txBody>
      </p:sp>
      <p:sp>
        <p:nvSpPr>
          <p:cNvPr id="12" name="text-130"/>
          <p:cNvSpPr txBox="1"/>
          <p:nvPr/>
        </p:nvSpPr>
        <p:spPr>
          <a:xfrm>
            <a:off x="8412480" y="267919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балльная карта, DSCR, триггеры</a:t>
            </a:r>
            <a:endParaRPr lang="en-US" sz="1300" dirty="0"/>
          </a:p>
        </p:txBody>
      </p:sp>
      <p:sp>
        <p:nvSpPr>
          <p:cNvPr id="13" name="dot-131"/>
          <p:cNvSpPr/>
          <p:nvPr/>
        </p:nvSpPr>
        <p:spPr>
          <a:xfrm>
            <a:off x="7863840" y="3291840"/>
            <a:ext cx="411480" cy="4114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num-132"/>
          <p:cNvSpPr txBox="1"/>
          <p:nvPr/>
        </p:nvSpPr>
        <p:spPr>
          <a:xfrm>
            <a:off x="7863840" y="3291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text-133"/>
          <p:cNvSpPr txBox="1"/>
          <p:nvPr/>
        </p:nvSpPr>
        <p:spPr>
          <a:xfrm>
            <a:off x="8412480" y="32644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What-if</a:t>
            </a:r>
            <a:endParaRPr lang="en-US" sz="1500" dirty="0"/>
          </a:p>
        </p:txBody>
      </p:sp>
      <p:sp>
        <p:nvSpPr>
          <p:cNvPr id="16" name="text-134"/>
          <p:cNvSpPr txBox="1"/>
          <p:nvPr/>
        </p:nvSpPr>
        <p:spPr>
          <a:xfrm>
            <a:off x="8412480" y="359359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пересчёт модели при другой сумме и сроке</a:t>
            </a:r>
            <a:endParaRPr lang="en-US" sz="1300" dirty="0"/>
          </a:p>
        </p:txBody>
      </p:sp>
      <p:sp>
        <p:nvSpPr>
          <p:cNvPr id="17" name="dot-135"/>
          <p:cNvSpPr/>
          <p:nvPr/>
        </p:nvSpPr>
        <p:spPr>
          <a:xfrm>
            <a:off x="7863840" y="420624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num-136"/>
          <p:cNvSpPr txBox="1"/>
          <p:nvPr/>
        </p:nvSpPr>
        <p:spPr>
          <a:xfrm>
            <a:off x="7863840" y="4206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✓</a:t>
            </a:r>
            <a:endParaRPr lang="en-US" sz="1600" dirty="0"/>
          </a:p>
        </p:txBody>
      </p:sp>
      <p:sp>
        <p:nvSpPr>
          <p:cNvPr id="19" name="text-137"/>
          <p:cNvSpPr txBox="1"/>
          <p:nvPr/>
        </p:nvSpPr>
        <p:spPr>
          <a:xfrm>
            <a:off x="8412480" y="41788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Четыре глаза</a:t>
            </a:r>
            <a:endParaRPr lang="en-US" sz="1500" dirty="0"/>
          </a:p>
        </p:txBody>
      </p:sp>
      <p:sp>
        <p:nvSpPr>
          <p:cNvPr id="20" name="text-138"/>
          <p:cNvSpPr txBox="1"/>
          <p:nvPr/>
        </p:nvSpPr>
        <p:spPr>
          <a:xfrm>
            <a:off x="8412480" y="450799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&gt; 15 млн ₽ согласует риск-менеджер</a:t>
            </a:r>
            <a:endParaRPr lang="en-US" sz="1300" dirty="0"/>
          </a:p>
        </p:txBody>
      </p:sp>
      <p:sp>
        <p:nvSpPr>
          <p:cNvPr id="21" name="dot-139"/>
          <p:cNvSpPr/>
          <p:nvPr/>
        </p:nvSpPr>
        <p:spPr>
          <a:xfrm>
            <a:off x="7863840" y="5120640"/>
            <a:ext cx="411480" cy="4114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2" name="num-140"/>
          <p:cNvSpPr txBox="1"/>
          <p:nvPr/>
        </p:nvSpPr>
        <p:spPr>
          <a:xfrm>
            <a:off x="7863840" y="5120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✓</a:t>
            </a:r>
            <a:endParaRPr lang="en-US" sz="1600" dirty="0"/>
          </a:p>
        </p:txBody>
      </p:sp>
      <p:sp>
        <p:nvSpPr>
          <p:cNvPr id="23" name="text-141"/>
          <p:cNvSpPr txBox="1"/>
          <p:nvPr/>
        </p:nvSpPr>
        <p:spPr>
          <a:xfrm>
            <a:off x="8412480" y="50932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Метрики конвейера</a:t>
            </a:r>
            <a:endParaRPr lang="en-US" sz="1500" dirty="0"/>
          </a:p>
        </p:txBody>
      </p:sp>
      <p:sp>
        <p:nvSpPr>
          <p:cNvPr id="24" name="text-142"/>
          <p:cNvSpPr txBox="1"/>
          <p:nvPr/>
        </p:nvSpPr>
        <p:spPr>
          <a:xfrm>
            <a:off x="8412480" y="542239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доля автоматических решений, время, воронка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7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Персональная лента: у каждой новости есть причина</a:t>
            </a:r>
            <a:endParaRPr lang="en-US" sz="3000" dirty="0"/>
          </a:p>
        </p:txBody>
      </p:sp>
      <p:sp>
        <p:nvSpPr>
          <p:cNvPr id="3" name="frame-143"/>
          <p:cNvSpPr/>
          <p:nvPr/>
        </p:nvSpPr>
        <p:spPr>
          <a:xfrm>
            <a:off x="493776" y="1362456"/>
            <a:ext cx="7059168" cy="4505249"/>
          </a:xfrm>
          <a:prstGeom prst="roundRect">
            <a:avLst>
              <a:gd name="adj" fmla="val 1624"/>
            </a:avLst>
          </a:prstGeom>
          <a:solidFill>
            <a:srgbClr val="F3F4F5"/>
          </a:solidFill>
          <a:ln w="9525">
            <a:solidFill>
              <a:srgbClr val="E4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5">
                <a:alpha val="18000"/>
              </a:srgbClr>
            </a:outerShdw>
          </a:effectLst>
        </p:spPr>
      </p:sp>
      <p:pic>
        <p:nvPicPr>
          <p:cNvPr id="4" name="shot-144" descr="C:\Users\user\Desktop\University\Hackatons\Alfa-hack\smart-credit-cabinet\docs\pitch\screenshots\06-news-preview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6949440" cy="4395521"/>
          </a:xfrm>
          <a:prstGeom prst="rect">
            <a:avLst/>
          </a:prstGeom>
        </p:spPr>
      </p:pic>
      <p:sp>
        <p:nvSpPr>
          <p:cNvPr id="5" name="text-145"/>
          <p:cNvSpPr txBox="1"/>
          <p:nvPr/>
        </p:nvSpPr>
        <p:spPr>
          <a:xfrm>
            <a:off x="7863840" y="14630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Лента ранжируется по</a:t>
            </a:r>
            <a:endParaRPr lang="en-US" sz="1800" dirty="0"/>
          </a:p>
        </p:txBody>
      </p:sp>
      <p:sp>
        <p:nvSpPr>
          <p:cNvPr id="6" name="feed-rank"/>
          <p:cNvSpPr txBox="1"/>
          <p:nvPr/>
        </p:nvSpPr>
        <p:spPr>
          <a:xfrm>
            <a:off x="7863840" y="1920240"/>
            <a:ext cx="3749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отрасли (ОКВЭД), региону, сегменту, форме бизнеса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этапу заявки: «что проверить в договоре», «как ускорить рассмотрение»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реакциям: «полезно» поднимает рубрику, «скрыть» убирает</a:t>
            </a:r>
            <a:endParaRPr lang="en-US" sz="1400" dirty="0"/>
          </a:p>
        </p:txBody>
      </p:sp>
      <p:sp>
        <p:nvSpPr>
          <p:cNvPr id="7" name="card-146"/>
          <p:cNvSpPr/>
          <p:nvPr/>
        </p:nvSpPr>
        <p:spPr>
          <a:xfrm>
            <a:off x="7863840" y="3840480"/>
            <a:ext cx="3749040" cy="1828800"/>
          </a:xfrm>
          <a:prstGeom prst="roundRect">
            <a:avLst>
              <a:gd name="adj" fmla="val 6000"/>
            </a:avLst>
          </a:prstGeom>
          <a:solidFill>
            <a:srgbClr val="E8F0FD"/>
          </a:solidFill>
          <a:ln w="9525">
            <a:solidFill>
              <a:srgbClr val="E8F0FD"/>
            </a:solidFill>
            <a:prstDash val="solid"/>
          </a:ln>
        </p:spPr>
      </p:sp>
      <p:sp>
        <p:nvSpPr>
          <p:cNvPr id="8" name="text-147"/>
          <p:cNvSpPr txBox="1"/>
          <p:nvPr/>
        </p:nvSpPr>
        <p:spPr>
          <a:xfrm>
            <a:off x="8092440" y="4023360"/>
            <a:ext cx="3337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3F7A"/>
                </a:solidFill>
              </a:rPr>
              <a:t>Пекарня в Москве видит льготы для производителей и цены на муку. ИП-перевозчик из Казани — сезонность перевозок и поручительства Татарстана. Администратор публикует материал с таргетингом и сразу видит его в предпросмотре.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7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Архитектура, готовая к банковской среде</a:t>
            </a:r>
            <a:endParaRPr lang="en-US" sz="3000" dirty="0"/>
          </a:p>
        </p:txBody>
      </p:sp>
      <p:sp>
        <p:nvSpPr>
          <p:cNvPr id="3" name="card-148"/>
          <p:cNvSpPr/>
          <p:nvPr/>
        </p:nvSpPr>
        <p:spPr>
          <a:xfrm>
            <a:off x="548640" y="1463040"/>
            <a:ext cx="20116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FD5DC"/>
            </a:solidFill>
            <a:prstDash val="solid"/>
          </a:ln>
        </p:spPr>
      </p:sp>
      <p:sp>
        <p:nvSpPr>
          <p:cNvPr id="4" name="text-149"/>
          <p:cNvSpPr txBox="1"/>
          <p:nvPr/>
        </p:nvSpPr>
        <p:spPr>
          <a:xfrm>
            <a:off x="685800" y="157276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React SPA</a:t>
            </a:r>
            <a:endParaRPr lang="en-US" sz="1400" dirty="0"/>
          </a:p>
        </p:txBody>
      </p:sp>
      <p:sp>
        <p:nvSpPr>
          <p:cNvPr id="5" name="text-150"/>
          <p:cNvSpPr txBox="1"/>
          <p:nvPr/>
        </p:nvSpPr>
        <p:spPr>
          <a:xfrm>
            <a:off x="685800" y="190195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кабинет клиента и АРМ банка</a:t>
            </a:r>
            <a:endParaRPr lang="en-US" sz="1100" dirty="0"/>
          </a:p>
        </p:txBody>
      </p:sp>
      <p:sp>
        <p:nvSpPr>
          <p:cNvPr id="6" name="card-151"/>
          <p:cNvSpPr/>
          <p:nvPr/>
        </p:nvSpPr>
        <p:spPr>
          <a:xfrm>
            <a:off x="2926080" y="1463040"/>
            <a:ext cx="1828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FD5DC"/>
            </a:solidFill>
            <a:prstDash val="solid"/>
          </a:ln>
        </p:spPr>
      </p:sp>
      <p:sp>
        <p:nvSpPr>
          <p:cNvPr id="7" name="text-152"/>
          <p:cNvSpPr txBox="1"/>
          <p:nvPr/>
        </p:nvSpPr>
        <p:spPr>
          <a:xfrm>
            <a:off x="3063240" y="157276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nginx</a:t>
            </a:r>
            <a:endParaRPr lang="en-US" sz="1400" dirty="0"/>
          </a:p>
        </p:txBody>
      </p:sp>
      <p:sp>
        <p:nvSpPr>
          <p:cNvPr id="8" name="text-153"/>
          <p:cNvSpPr txBox="1"/>
          <p:nvPr/>
        </p:nvSpPr>
        <p:spPr>
          <a:xfrm>
            <a:off x="3063240" y="190195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статика, /api proxy</a:t>
            </a:r>
            <a:endParaRPr lang="en-US" sz="1100" dirty="0"/>
          </a:p>
        </p:txBody>
      </p:sp>
      <p:sp>
        <p:nvSpPr>
          <p:cNvPr id="9" name="card-154"/>
          <p:cNvSpPr/>
          <p:nvPr/>
        </p:nvSpPr>
        <p:spPr>
          <a:xfrm>
            <a:off x="5120640" y="1463040"/>
            <a:ext cx="2377440" cy="914400"/>
          </a:xfrm>
          <a:prstGeom prst="roundRect">
            <a:avLst>
              <a:gd name="adj" fmla="val 12000"/>
            </a:avLst>
          </a:prstGeom>
          <a:solidFill>
            <a:srgbClr val="0B1F35"/>
          </a:solidFill>
          <a:ln w="9525">
            <a:solidFill>
              <a:srgbClr val="0B1F35"/>
            </a:solidFill>
            <a:prstDash val="solid"/>
          </a:ln>
        </p:spPr>
      </p:sp>
      <p:sp>
        <p:nvSpPr>
          <p:cNvPr id="10" name="text-155"/>
          <p:cNvSpPr txBox="1"/>
          <p:nvPr/>
        </p:nvSpPr>
        <p:spPr>
          <a:xfrm>
            <a:off x="5257800" y="157276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api × N</a:t>
            </a:r>
            <a:endParaRPr lang="en-US" sz="1400" dirty="0"/>
          </a:p>
        </p:txBody>
      </p:sp>
      <p:sp>
        <p:nvSpPr>
          <p:cNvPr id="11" name="text-156"/>
          <p:cNvSpPr txBox="1"/>
          <p:nvPr/>
        </p:nvSpPr>
        <p:spPr>
          <a:xfrm>
            <a:off x="5257800" y="190195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3DF"/>
                </a:solidFill>
              </a:rPr>
              <a:t>FastAPI · JWT/RBAC · автомат статусов</a:t>
            </a:r>
            <a:endParaRPr lang="en-US" sz="1100" dirty="0"/>
          </a:p>
        </p:txBody>
      </p:sp>
      <p:sp>
        <p:nvSpPr>
          <p:cNvPr id="12" name="card-157"/>
          <p:cNvSpPr/>
          <p:nvPr/>
        </p:nvSpPr>
        <p:spPr>
          <a:xfrm>
            <a:off x="5120640" y="2880360"/>
            <a:ext cx="2377440" cy="914400"/>
          </a:xfrm>
          <a:prstGeom prst="roundRect">
            <a:avLst>
              <a:gd name="adj" fmla="val 12000"/>
            </a:avLst>
          </a:prstGeom>
          <a:solidFill>
            <a:srgbClr val="0B1F35"/>
          </a:solidFill>
          <a:ln w="9525">
            <a:solidFill>
              <a:srgbClr val="0B1F35"/>
            </a:solidFill>
            <a:prstDash val="solid"/>
          </a:ln>
        </p:spPr>
      </p:sp>
      <p:sp>
        <p:nvSpPr>
          <p:cNvPr id="13" name="text-158"/>
          <p:cNvSpPr txBox="1"/>
          <p:nvPr/>
        </p:nvSpPr>
        <p:spPr>
          <a:xfrm>
            <a:off x="5257800" y="299008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worker × N</a:t>
            </a:r>
            <a:endParaRPr lang="en-US" sz="1400" dirty="0"/>
          </a:p>
        </p:txBody>
      </p:sp>
      <p:sp>
        <p:nvSpPr>
          <p:cNvPr id="14" name="text-159"/>
          <p:cNvSpPr txBox="1"/>
          <p:nvPr/>
        </p:nvSpPr>
        <p:spPr>
          <a:xfrm>
            <a:off x="5257800" y="331927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3DF"/>
                </a:solidFill>
              </a:rPr>
              <a:t>этапы конвейера · модель решения</a:t>
            </a:r>
            <a:endParaRPr lang="en-US" sz="1100" dirty="0"/>
          </a:p>
        </p:txBody>
      </p:sp>
      <p:sp>
        <p:nvSpPr>
          <p:cNvPr id="15" name="card-160"/>
          <p:cNvSpPr/>
          <p:nvPr/>
        </p:nvSpPr>
        <p:spPr>
          <a:xfrm>
            <a:off x="7955280" y="2148840"/>
            <a:ext cx="2194560" cy="1005840"/>
          </a:xfrm>
          <a:prstGeom prst="roundRect">
            <a:avLst>
              <a:gd name="adj" fmla="val 10909"/>
            </a:avLst>
          </a:prstGeom>
          <a:solidFill>
            <a:srgbClr val="F3F4F5"/>
          </a:solidFill>
          <a:ln w="9525">
            <a:solidFill>
              <a:srgbClr val="CFD5DC"/>
            </a:solidFill>
            <a:prstDash val="solid"/>
          </a:ln>
        </p:spPr>
      </p:sp>
      <p:sp>
        <p:nvSpPr>
          <p:cNvPr id="16" name="text-161"/>
          <p:cNvSpPr txBox="1"/>
          <p:nvPr/>
        </p:nvSpPr>
        <p:spPr>
          <a:xfrm>
            <a:off x="8092440" y="22585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PostgreSQL 16</a:t>
            </a:r>
            <a:endParaRPr lang="en-US" sz="1400" dirty="0"/>
          </a:p>
        </p:txBody>
      </p:sp>
      <p:sp>
        <p:nvSpPr>
          <p:cNvPr id="17" name="text-162"/>
          <p:cNvSpPr txBox="1"/>
          <p:nvPr/>
        </p:nvSpPr>
        <p:spPr>
          <a:xfrm>
            <a:off x="8092440" y="258775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заявки · события (аудит) · outbox-очередь</a:t>
            </a:r>
            <a:endParaRPr lang="en-US" sz="1100" dirty="0"/>
          </a:p>
        </p:txBody>
      </p:sp>
      <p:sp>
        <p:nvSpPr>
          <p:cNvPr id="18" name="card-163"/>
          <p:cNvSpPr/>
          <p:nvPr/>
        </p:nvSpPr>
        <p:spPr>
          <a:xfrm>
            <a:off x="5120640" y="4251960"/>
            <a:ext cx="2377440" cy="960120"/>
          </a:xfrm>
          <a:prstGeom prst="roundRect">
            <a:avLst>
              <a:gd name="adj" fmla="val 11429"/>
            </a:avLst>
          </a:prstGeom>
          <a:solidFill>
            <a:srgbClr val="FDECEA"/>
          </a:solidFill>
          <a:ln w="9525">
            <a:solidFill>
              <a:srgbClr val="CFD5DC"/>
            </a:solidFill>
            <a:prstDash val="solid"/>
          </a:ln>
        </p:spPr>
      </p:sp>
      <p:sp>
        <p:nvSpPr>
          <p:cNvPr id="19" name="text-164"/>
          <p:cNvSpPr txBox="1"/>
          <p:nvPr/>
        </p:nvSpPr>
        <p:spPr>
          <a:xfrm>
            <a:off x="5257800" y="436168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Внешние системы (моки)</a:t>
            </a:r>
            <a:endParaRPr lang="en-US" sz="1400" dirty="0"/>
          </a:p>
        </p:txBody>
      </p:sp>
      <p:sp>
        <p:nvSpPr>
          <p:cNvPr id="20" name="text-165"/>
          <p:cNvSpPr txBox="1"/>
          <p:nvPr/>
        </p:nvSpPr>
        <p:spPr>
          <a:xfrm>
            <a:off x="5257800" y="469087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ЕГРЮЛ · ФНС · БКИ · антифрод · АБС</a:t>
            </a:r>
            <a:endParaRPr lang="en-US" sz="1100" dirty="0"/>
          </a:p>
        </p:txBody>
      </p:sp>
      <p:sp>
        <p:nvSpPr>
          <p:cNvPr id="21" name="card-166"/>
          <p:cNvSpPr/>
          <p:nvPr/>
        </p:nvSpPr>
        <p:spPr>
          <a:xfrm>
            <a:off x="7955280" y="4251960"/>
            <a:ext cx="219456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CFD5DC"/>
            </a:solidFill>
            <a:prstDash val="solid"/>
          </a:ln>
        </p:spPr>
      </p:sp>
      <p:sp>
        <p:nvSpPr>
          <p:cNvPr id="22" name="text-167"/>
          <p:cNvSpPr txBox="1"/>
          <p:nvPr/>
        </p:nvSpPr>
        <p:spPr>
          <a:xfrm>
            <a:off x="8092440" y="436168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Ollama · Qwen2.5</a:t>
            </a:r>
            <a:endParaRPr lang="en-US" sz="1400" dirty="0"/>
          </a:p>
        </p:txBody>
      </p:sp>
      <p:sp>
        <p:nvSpPr>
          <p:cNvPr id="23" name="text-168"/>
          <p:cNvSpPr txBox="1"/>
          <p:nvPr/>
        </p:nvSpPr>
        <p:spPr>
          <a:xfrm>
            <a:off x="8092440" y="469087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опционально, open weights</a:t>
            </a:r>
            <a:endParaRPr lang="en-US" sz="1100" dirty="0"/>
          </a:p>
        </p:txBody>
      </p:sp>
      <p:sp>
        <p:nvSpPr>
          <p:cNvPr id="24" name="arr-169"/>
          <p:cNvSpPr/>
          <p:nvPr/>
        </p:nvSpPr>
        <p:spPr>
          <a:xfrm>
            <a:off x="2560320" y="1920240"/>
            <a:ext cx="365760" cy="914"/>
          </a:xfrm>
          <a:prstGeom prst="line">
            <a:avLst/>
          </a:prstGeom>
          <a:noFill/>
          <a:ln w="19050">
            <a:solidFill>
              <a:srgbClr val="6B7785"/>
            </a:solidFill>
            <a:prstDash val="solid"/>
            <a:tailEnd type="triangle"/>
          </a:ln>
        </p:spPr>
      </p:sp>
      <p:sp>
        <p:nvSpPr>
          <p:cNvPr id="25" name="arr-170"/>
          <p:cNvSpPr/>
          <p:nvPr/>
        </p:nvSpPr>
        <p:spPr>
          <a:xfrm>
            <a:off x="4754880" y="1920240"/>
            <a:ext cx="365760" cy="914"/>
          </a:xfrm>
          <a:prstGeom prst="line">
            <a:avLst/>
          </a:prstGeom>
          <a:noFill/>
          <a:ln w="19050">
            <a:solidFill>
              <a:srgbClr val="6B7785"/>
            </a:solidFill>
            <a:prstDash val="solid"/>
            <a:tailEnd type="triangle"/>
          </a:ln>
        </p:spPr>
      </p:sp>
      <p:sp>
        <p:nvSpPr>
          <p:cNvPr id="26" name="arr-171"/>
          <p:cNvSpPr/>
          <p:nvPr/>
        </p:nvSpPr>
        <p:spPr>
          <a:xfrm>
            <a:off x="7498080" y="1920240"/>
            <a:ext cx="457200" cy="548640"/>
          </a:xfrm>
          <a:prstGeom prst="line">
            <a:avLst/>
          </a:prstGeom>
          <a:noFill/>
          <a:ln w="19050">
            <a:solidFill>
              <a:srgbClr val="6B7785"/>
            </a:solidFill>
            <a:prstDash val="solid"/>
            <a:tailEnd type="triangle"/>
          </a:ln>
        </p:spPr>
      </p:sp>
      <p:sp>
        <p:nvSpPr>
          <p:cNvPr id="27" name="arr-172"/>
          <p:cNvSpPr/>
          <p:nvPr/>
        </p:nvSpPr>
        <p:spPr>
          <a:xfrm flipV="1">
            <a:off x="7498080" y="2834640"/>
            <a:ext cx="457200" cy="502920"/>
          </a:xfrm>
          <a:prstGeom prst="line">
            <a:avLst/>
          </a:prstGeom>
          <a:noFill/>
          <a:ln w="19050">
            <a:solidFill>
              <a:srgbClr val="6B7785"/>
            </a:solidFill>
            <a:prstDash val="solid"/>
            <a:tailEnd type="triangle"/>
          </a:ln>
        </p:spPr>
      </p:sp>
      <p:sp>
        <p:nvSpPr>
          <p:cNvPr id="28" name="arr-173"/>
          <p:cNvSpPr/>
          <p:nvPr/>
        </p:nvSpPr>
        <p:spPr>
          <a:xfrm>
            <a:off x="6309360" y="3794760"/>
            <a:ext cx="914" cy="457200"/>
          </a:xfrm>
          <a:prstGeom prst="line">
            <a:avLst/>
          </a:prstGeom>
          <a:noFill/>
          <a:ln w="19050">
            <a:solidFill>
              <a:srgbClr val="6B7785"/>
            </a:solidFill>
            <a:prstDash val="solid"/>
            <a:tailEnd type="triangle"/>
          </a:ln>
        </p:spPr>
      </p:sp>
      <p:sp>
        <p:nvSpPr>
          <p:cNvPr id="29" name="arr-174"/>
          <p:cNvSpPr/>
          <p:nvPr/>
        </p:nvSpPr>
        <p:spPr>
          <a:xfrm>
            <a:off x="7498080" y="4727448"/>
            <a:ext cx="457200" cy="914"/>
          </a:xfrm>
          <a:prstGeom prst="line">
            <a:avLst/>
          </a:prstGeom>
          <a:noFill/>
          <a:ln w="19050">
            <a:solidFill>
              <a:srgbClr val="6B7785"/>
            </a:solidFill>
            <a:prstDash val="solid"/>
            <a:tailEnd type="triangle"/>
          </a:ln>
        </p:spPr>
      </p:sp>
      <p:sp>
        <p:nvSpPr>
          <p:cNvPr id="30" name="card-175"/>
          <p:cNvSpPr/>
          <p:nvPr/>
        </p:nvSpPr>
        <p:spPr>
          <a:xfrm>
            <a:off x="10424160" y="1463040"/>
            <a:ext cx="1188720" cy="3749040"/>
          </a:xfrm>
          <a:prstGeom prst="roundRect">
            <a:avLst>
              <a:gd name="adj" fmla="val 9231"/>
            </a:avLst>
          </a:prstGeom>
          <a:solidFill>
            <a:srgbClr val="F3F4F5"/>
          </a:solidFill>
          <a:ln w="9525">
            <a:solidFill>
              <a:srgbClr val="F3F4F5"/>
            </a:solidFill>
            <a:prstDash val="solid"/>
          </a:ln>
        </p:spPr>
      </p:sp>
      <p:sp>
        <p:nvSpPr>
          <p:cNvPr id="31" name="text-176"/>
          <p:cNvSpPr txBox="1"/>
          <p:nvPr/>
        </p:nvSpPr>
        <p:spPr>
          <a:xfrm>
            <a:off x="10515600" y="1600200"/>
            <a:ext cx="1005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docker compose up</a:t>
            </a:r>
            <a:endParaRPr lang="en-US" sz="1300" dirty="0"/>
          </a:p>
        </p:txBody>
      </p:sp>
      <p:sp>
        <p:nvSpPr>
          <p:cNvPr id="32" name="text-177"/>
          <p:cNvSpPr txBox="1"/>
          <p:nvPr/>
        </p:nvSpPr>
        <p:spPr>
          <a:xfrm>
            <a:off x="548640" y="54864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Надёжность</a:t>
            </a:r>
            <a:endParaRPr lang="en-US" sz="1500" dirty="0"/>
          </a:p>
        </p:txBody>
      </p:sp>
      <p:sp>
        <p:nvSpPr>
          <p:cNvPr id="33" name="text-178"/>
          <p:cNvSpPr txBox="1"/>
          <p:nvPr/>
        </p:nvSpPr>
        <p:spPr>
          <a:xfrm>
            <a:off x="548640" y="58064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транзакционный outbox, SKIP LOCKED, ретраи, мягкая деградация</a:t>
            </a:r>
            <a:endParaRPr lang="en-US" sz="1200" dirty="0"/>
          </a:p>
        </p:txBody>
      </p:sp>
      <p:sp>
        <p:nvSpPr>
          <p:cNvPr id="34" name="text-179"/>
          <p:cNvSpPr txBox="1"/>
          <p:nvPr/>
        </p:nvSpPr>
        <p:spPr>
          <a:xfrm>
            <a:off x="4297680" y="54864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Безопасность</a:t>
            </a:r>
            <a:endParaRPr lang="en-US" sz="1500" dirty="0"/>
          </a:p>
        </p:txBody>
      </p:sp>
      <p:sp>
        <p:nvSpPr>
          <p:cNvPr id="35" name="text-180"/>
          <p:cNvSpPr txBox="1"/>
          <p:nvPr/>
        </p:nvSpPr>
        <p:spPr>
          <a:xfrm>
            <a:off x="4297680" y="58064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RBAC, «четыре глаза», аудит, bcrypt, данные по ролям</a:t>
            </a:r>
            <a:endParaRPr lang="en-US" sz="1200" dirty="0"/>
          </a:p>
        </p:txBody>
      </p:sp>
      <p:sp>
        <p:nvSpPr>
          <p:cNvPr id="36" name="text-181"/>
          <p:cNvSpPr txBox="1"/>
          <p:nvPr/>
        </p:nvSpPr>
        <p:spPr>
          <a:xfrm>
            <a:off x="8046720" y="54864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Сопровождение</a:t>
            </a:r>
            <a:endParaRPr lang="en-US" sz="1500" dirty="0"/>
          </a:p>
        </p:txBody>
      </p:sp>
      <p:sp>
        <p:nvSpPr>
          <p:cNvPr id="37" name="text-182"/>
          <p:cNvSpPr txBox="1"/>
          <p:nvPr/>
        </p:nvSpPr>
        <p:spPr>
          <a:xfrm>
            <a:off x="8046720" y="58064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Alembic, lock-файлы с хэшами, JSON-логи, /metrics, health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7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ИИ только там, где он полезен</a:t>
            </a:r>
            <a:endParaRPr lang="en-US" sz="3000" dirty="0"/>
          </a:p>
        </p:txBody>
      </p:sp>
      <p:sp>
        <p:nvSpPr>
          <p:cNvPr id="3" name="card-183"/>
          <p:cNvSpPr/>
          <p:nvPr/>
        </p:nvSpPr>
        <p:spPr>
          <a:xfrm>
            <a:off x="548640" y="1417320"/>
            <a:ext cx="7315200" cy="1143000"/>
          </a:xfrm>
          <a:prstGeom prst="roundRect">
            <a:avLst>
              <a:gd name="adj" fmla="val 9600"/>
            </a:avLst>
          </a:prstGeom>
          <a:solidFill>
            <a:srgbClr val="F3F4F5"/>
          </a:solidFill>
          <a:ln w="9525">
            <a:solidFill>
              <a:srgbClr val="F3F4F5"/>
            </a:solidFill>
            <a:prstDash val="solid"/>
          </a:ln>
        </p:spPr>
      </p:sp>
      <p:sp>
        <p:nvSpPr>
          <p:cNvPr id="4" name="dot-184"/>
          <p:cNvSpPr/>
          <p:nvPr/>
        </p:nvSpPr>
        <p:spPr>
          <a:xfrm>
            <a:off x="777240" y="17373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num-185"/>
          <p:cNvSpPr txBox="1"/>
          <p:nvPr/>
        </p:nvSpPr>
        <p:spPr>
          <a:xfrm>
            <a:off x="77724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-186"/>
          <p:cNvSpPr txBox="1"/>
          <p:nvPr/>
        </p:nvSpPr>
        <p:spPr>
          <a:xfrm>
            <a:off x="1508760" y="155448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Разбор потребности</a:t>
            </a:r>
            <a:endParaRPr lang="en-US" sz="1700" dirty="0"/>
          </a:p>
        </p:txBody>
      </p:sp>
      <p:sp>
        <p:nvSpPr>
          <p:cNvPr id="7" name="text-187"/>
          <p:cNvSpPr txBox="1"/>
          <p:nvPr/>
        </p:nvSpPr>
        <p:spPr>
          <a:xfrm>
            <a:off x="1508760" y="192024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«Нужно 3,5 млн на печь на 2 года» → цель, сумма, срок → подбор продукта</a:t>
            </a:r>
            <a:endParaRPr lang="en-US" sz="1300" dirty="0"/>
          </a:p>
        </p:txBody>
      </p:sp>
      <p:sp>
        <p:nvSpPr>
          <p:cNvPr id="8" name="text-188"/>
          <p:cNvSpPr txBox="1"/>
          <p:nvPr/>
        </p:nvSpPr>
        <p:spPr>
          <a:xfrm>
            <a:off x="5257800" y="192024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3"/>
                </a:solidFill>
              </a:rPr>
              <a:t>Клиенту не нужно знать банковские термины</a:t>
            </a:r>
            <a:endParaRPr lang="en-US" sz="1300" dirty="0"/>
          </a:p>
        </p:txBody>
      </p:sp>
      <p:sp>
        <p:nvSpPr>
          <p:cNvPr id="9" name="card-189"/>
          <p:cNvSpPr/>
          <p:nvPr/>
        </p:nvSpPr>
        <p:spPr>
          <a:xfrm>
            <a:off x="548640" y="2743200"/>
            <a:ext cx="7315200" cy="1143000"/>
          </a:xfrm>
          <a:prstGeom prst="roundRect">
            <a:avLst>
              <a:gd name="adj" fmla="val 9600"/>
            </a:avLst>
          </a:prstGeom>
          <a:solidFill>
            <a:srgbClr val="F3F4F5"/>
          </a:solidFill>
          <a:ln w="9525">
            <a:solidFill>
              <a:srgbClr val="F3F4F5"/>
            </a:solidFill>
            <a:prstDash val="solid"/>
          </a:ln>
        </p:spPr>
      </p:sp>
      <p:sp>
        <p:nvSpPr>
          <p:cNvPr id="10" name="dot-190"/>
          <p:cNvSpPr/>
          <p:nvPr/>
        </p:nvSpPr>
        <p:spPr>
          <a:xfrm>
            <a:off x="777240" y="30632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num-191"/>
          <p:cNvSpPr txBox="1"/>
          <p:nvPr/>
        </p:nvSpPr>
        <p:spPr>
          <a:xfrm>
            <a:off x="77724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-192"/>
          <p:cNvSpPr txBox="1"/>
          <p:nvPr/>
        </p:nvSpPr>
        <p:spPr>
          <a:xfrm>
            <a:off x="1508760" y="288036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Объяснение простым языком</a:t>
            </a:r>
            <a:endParaRPr lang="en-US" sz="1700" dirty="0"/>
          </a:p>
        </p:txBody>
      </p:sp>
      <p:sp>
        <p:nvSpPr>
          <p:cNvPr id="13" name="text-193"/>
          <p:cNvSpPr txBox="1"/>
          <p:nvPr/>
        </p:nvSpPr>
        <p:spPr>
          <a:xfrm>
            <a:off x="1508760" y="324612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Статус, условия и следующий шаг по данным заявки (RAG по базе знаний)</a:t>
            </a:r>
            <a:endParaRPr lang="en-US" sz="1300" dirty="0"/>
          </a:p>
        </p:txBody>
      </p:sp>
      <p:sp>
        <p:nvSpPr>
          <p:cNvPr id="14" name="text-194"/>
          <p:cNvSpPr txBox="1"/>
          <p:nvPr/>
        </p:nvSpPr>
        <p:spPr>
          <a:xfrm>
            <a:off x="5257800" y="32461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3"/>
                </a:solidFill>
              </a:rPr>
              <a:t>Меньше обращений «где моя заявка»</a:t>
            </a:r>
            <a:endParaRPr lang="en-US" sz="1300" dirty="0"/>
          </a:p>
        </p:txBody>
      </p:sp>
      <p:sp>
        <p:nvSpPr>
          <p:cNvPr id="15" name="card-195"/>
          <p:cNvSpPr/>
          <p:nvPr/>
        </p:nvSpPr>
        <p:spPr>
          <a:xfrm>
            <a:off x="548640" y="4069080"/>
            <a:ext cx="7315200" cy="1143000"/>
          </a:xfrm>
          <a:prstGeom prst="roundRect">
            <a:avLst>
              <a:gd name="adj" fmla="val 9600"/>
            </a:avLst>
          </a:prstGeom>
          <a:solidFill>
            <a:srgbClr val="F3F4F5"/>
          </a:solidFill>
          <a:ln w="9525">
            <a:solidFill>
              <a:srgbClr val="F3F4F5"/>
            </a:solidFill>
            <a:prstDash val="solid"/>
          </a:ln>
        </p:spPr>
      </p:sp>
      <p:sp>
        <p:nvSpPr>
          <p:cNvPr id="16" name="dot-196"/>
          <p:cNvSpPr/>
          <p:nvPr/>
        </p:nvSpPr>
        <p:spPr>
          <a:xfrm>
            <a:off x="777240" y="43891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num-197"/>
          <p:cNvSpPr txBox="1"/>
          <p:nvPr/>
        </p:nvSpPr>
        <p:spPr>
          <a:xfrm>
            <a:off x="777240" y="4389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-198"/>
          <p:cNvSpPr txBox="1"/>
          <p:nvPr/>
        </p:nvSpPr>
        <p:spPr>
          <a:xfrm>
            <a:off x="1508760" y="420624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Резюме для андеррайтера</a:t>
            </a:r>
            <a:endParaRPr lang="en-US" sz="1700" dirty="0"/>
          </a:p>
        </p:txBody>
      </p:sp>
      <p:sp>
        <p:nvSpPr>
          <p:cNvPr id="19" name="text-199"/>
          <p:cNvSpPr txBox="1"/>
          <p:nvPr/>
        </p:nvSpPr>
        <p:spPr>
          <a:xfrm>
            <a:off x="1508760" y="45720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Сильные стороны, риски, причины ручного рассмотрения, рекомендация</a:t>
            </a:r>
            <a:endParaRPr lang="en-US" sz="1300" dirty="0"/>
          </a:p>
        </p:txBody>
      </p:sp>
      <p:sp>
        <p:nvSpPr>
          <p:cNvPr id="20" name="text-200"/>
          <p:cNvSpPr txBox="1"/>
          <p:nvPr/>
        </p:nvSpPr>
        <p:spPr>
          <a:xfrm>
            <a:off x="5257800" y="457200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3"/>
                </a:solidFill>
              </a:rPr>
              <a:t>Быстрее разбор нестандартных заявок</a:t>
            </a:r>
            <a:endParaRPr lang="en-US" sz="1300" dirty="0"/>
          </a:p>
        </p:txBody>
      </p:sp>
      <p:sp>
        <p:nvSpPr>
          <p:cNvPr id="21" name="card-201"/>
          <p:cNvSpPr/>
          <p:nvPr/>
        </p:nvSpPr>
        <p:spPr>
          <a:xfrm>
            <a:off x="8229600" y="1417320"/>
            <a:ext cx="3383280" cy="3794760"/>
          </a:xfrm>
          <a:prstGeom prst="roundRect">
            <a:avLst>
              <a:gd name="adj" fmla="val 3243"/>
            </a:avLst>
          </a:prstGeom>
          <a:solidFill>
            <a:srgbClr val="0B1F35"/>
          </a:solidFill>
          <a:ln w="9525">
            <a:solidFill>
              <a:srgbClr val="0B1F35"/>
            </a:solidFill>
            <a:prstDash val="solid"/>
          </a:ln>
        </p:spPr>
      </p:sp>
      <p:sp>
        <p:nvSpPr>
          <p:cNvPr id="22" name="text-202"/>
          <p:cNvSpPr txBox="1"/>
          <p:nvPr/>
        </p:nvSpPr>
        <p:spPr>
          <a:xfrm>
            <a:off x="8503920" y="164592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Ограничения по кейсу и здравому смыслу</a:t>
            </a:r>
            <a:endParaRPr lang="en-US" sz="1600" dirty="0"/>
          </a:p>
        </p:txBody>
      </p:sp>
      <p:sp>
        <p:nvSpPr>
          <p:cNvPr id="23" name="ai-limits"/>
          <p:cNvSpPr txBox="1"/>
          <p:nvPr/>
        </p:nvSpPr>
        <p:spPr>
          <a:xfrm>
            <a:off x="8503920" y="2423160"/>
            <a:ext cx="2880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9D3DF"/>
                </a:solidFill>
              </a:rPr>
              <a:t>Только open weights: Qwen2.5-1.5B (Apache-2.0), локально через Ollama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9D3DF"/>
                </a:solidFill>
              </a:rPr>
              <a:t>ИИ не принимает кредитных решений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9D3DF"/>
                </a:solidFill>
              </a:rPr>
              <a:t>Без LLM всё работает: детерминированный fallback</a:t>
            </a:r>
            <a:endParaRPr lang="en-US" sz="1400" dirty="0"/>
          </a:p>
        </p:txBody>
      </p:sp>
      <p:sp>
        <p:nvSpPr>
          <p:cNvPr id="24" name="card-203"/>
          <p:cNvSpPr/>
          <p:nvPr/>
        </p:nvSpPr>
        <p:spPr>
          <a:xfrm>
            <a:off x="548640" y="5486400"/>
            <a:ext cx="11064240" cy="685800"/>
          </a:xfrm>
          <a:prstGeom prst="roundRect">
            <a:avLst>
              <a:gd name="adj" fmla="val 16000"/>
            </a:avLst>
          </a:prstGeom>
          <a:solidFill>
            <a:srgbClr val="FDECEA"/>
          </a:solidFill>
          <a:ln w="9525">
            <a:solidFill>
              <a:srgbClr val="FDECEA"/>
            </a:solidFill>
            <a:prstDash val="solid"/>
          </a:ln>
        </p:spPr>
      </p:sp>
      <p:sp>
        <p:nvSpPr>
          <p:cNvPr id="25" name="text-204"/>
          <p:cNvSpPr txBox="1"/>
          <p:nvPr/>
        </p:nvSpPr>
        <p:spPr>
          <a:xfrm>
            <a:off x="822960" y="5641848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Плюс автоматика без ИИ: распознавание выписки CSV подтверждает выручку и снимает ручную проверку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7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Что готово и проверяется одной командой</a:t>
            </a:r>
            <a:endParaRPr lang="en-US" sz="3000" dirty="0"/>
          </a:p>
        </p:txBody>
      </p:sp>
      <p:sp>
        <p:nvSpPr>
          <p:cNvPr id="3" name="card-205"/>
          <p:cNvSpPr/>
          <p:nvPr/>
        </p:nvSpPr>
        <p:spPr>
          <a:xfrm>
            <a:off x="548640" y="1463040"/>
            <a:ext cx="3520440" cy="1645920"/>
          </a:xfrm>
          <a:prstGeom prst="roundRect">
            <a:avLst>
              <a:gd name="adj" fmla="val 6667"/>
            </a:avLst>
          </a:prstGeom>
          <a:solidFill>
            <a:srgbClr val="0B1F35"/>
          </a:solidFill>
          <a:ln w="9525">
            <a:solidFill>
              <a:srgbClr val="0B1F35"/>
            </a:solidFill>
            <a:prstDash val="solid"/>
          </a:ln>
        </p:spPr>
      </p:sp>
      <p:sp>
        <p:nvSpPr>
          <p:cNvPr id="4" name="text-206"/>
          <p:cNvSpPr txBox="1"/>
          <p:nvPr/>
        </p:nvSpPr>
        <p:spPr>
          <a:xfrm>
            <a:off x="822960" y="16459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16</a:t>
            </a:r>
            <a:endParaRPr lang="en-US" sz="4800" dirty="0"/>
          </a:p>
        </p:txBody>
      </p:sp>
      <p:sp>
        <p:nvSpPr>
          <p:cNvPr id="5" name="text-207"/>
          <p:cNvSpPr txBox="1"/>
          <p:nvPr/>
        </p:nvSpPr>
        <p:spPr>
          <a:xfrm>
            <a:off x="822960" y="248716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3DF"/>
                </a:solidFill>
              </a:rPr>
              <a:t>статусов заявки в конечном автомате</a:t>
            </a:r>
            <a:endParaRPr lang="en-US" sz="1400" dirty="0"/>
          </a:p>
        </p:txBody>
      </p:sp>
      <p:sp>
        <p:nvSpPr>
          <p:cNvPr id="6" name="card-208"/>
          <p:cNvSpPr/>
          <p:nvPr/>
        </p:nvSpPr>
        <p:spPr>
          <a:xfrm>
            <a:off x="4297680" y="1463040"/>
            <a:ext cx="3520440" cy="1645920"/>
          </a:xfrm>
          <a:prstGeom prst="roundRect">
            <a:avLst>
              <a:gd name="adj" fmla="val 6667"/>
            </a:avLst>
          </a:prstGeom>
          <a:solidFill>
            <a:srgbClr val="F3F4F5"/>
          </a:solidFill>
          <a:ln w="9525">
            <a:solidFill>
              <a:srgbClr val="F3F4F5"/>
            </a:solidFill>
            <a:prstDash val="solid"/>
          </a:ln>
        </p:spPr>
      </p:sp>
      <p:sp>
        <p:nvSpPr>
          <p:cNvPr id="7" name="text-209"/>
          <p:cNvSpPr txBox="1"/>
          <p:nvPr/>
        </p:nvSpPr>
        <p:spPr>
          <a:xfrm>
            <a:off x="4572000" y="16459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5</a:t>
            </a:r>
            <a:endParaRPr lang="en-US" sz="4800" dirty="0"/>
          </a:p>
        </p:txBody>
      </p:sp>
      <p:sp>
        <p:nvSpPr>
          <p:cNvPr id="8" name="text-210"/>
          <p:cNvSpPr txBox="1"/>
          <p:nvPr/>
        </p:nvSpPr>
        <p:spPr>
          <a:xfrm>
            <a:off x="4572000" y="248716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кредитных продуктов, включая льготный</a:t>
            </a:r>
            <a:endParaRPr lang="en-US" sz="1400" dirty="0"/>
          </a:p>
        </p:txBody>
      </p:sp>
      <p:sp>
        <p:nvSpPr>
          <p:cNvPr id="9" name="card-211"/>
          <p:cNvSpPr/>
          <p:nvPr/>
        </p:nvSpPr>
        <p:spPr>
          <a:xfrm>
            <a:off x="8046720" y="1463040"/>
            <a:ext cx="3520440" cy="1645920"/>
          </a:xfrm>
          <a:prstGeom prst="roundRect">
            <a:avLst>
              <a:gd name="adj" fmla="val 6667"/>
            </a:avLst>
          </a:prstGeom>
          <a:solidFill>
            <a:srgbClr val="F3F4F5"/>
          </a:solidFill>
          <a:ln w="9525">
            <a:solidFill>
              <a:srgbClr val="F3F4F5"/>
            </a:solidFill>
            <a:prstDash val="solid"/>
          </a:ln>
        </p:spPr>
      </p:sp>
      <p:sp>
        <p:nvSpPr>
          <p:cNvPr id="10" name="text-212"/>
          <p:cNvSpPr txBox="1"/>
          <p:nvPr/>
        </p:nvSpPr>
        <p:spPr>
          <a:xfrm>
            <a:off x="8321040" y="16459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4</a:t>
            </a:r>
            <a:endParaRPr lang="en-US" sz="4800" dirty="0"/>
          </a:p>
        </p:txBody>
      </p:sp>
      <p:sp>
        <p:nvSpPr>
          <p:cNvPr id="11" name="text-213"/>
          <p:cNvSpPr txBox="1"/>
          <p:nvPr/>
        </p:nvSpPr>
        <p:spPr>
          <a:xfrm>
            <a:off x="8321040" y="248716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роли: клиент, аналитик, риск, админ</a:t>
            </a:r>
            <a:endParaRPr lang="en-US" sz="1400" dirty="0"/>
          </a:p>
        </p:txBody>
      </p:sp>
      <p:sp>
        <p:nvSpPr>
          <p:cNvPr id="12" name="card-214"/>
          <p:cNvSpPr/>
          <p:nvPr/>
        </p:nvSpPr>
        <p:spPr>
          <a:xfrm>
            <a:off x="548640" y="3337560"/>
            <a:ext cx="3520440" cy="1645920"/>
          </a:xfrm>
          <a:prstGeom prst="roundRect">
            <a:avLst>
              <a:gd name="adj" fmla="val 6667"/>
            </a:avLst>
          </a:prstGeom>
          <a:solidFill>
            <a:srgbClr val="F3F4F5"/>
          </a:solidFill>
          <a:ln w="9525">
            <a:solidFill>
              <a:srgbClr val="F3F4F5"/>
            </a:solidFill>
            <a:prstDash val="solid"/>
          </a:ln>
        </p:spPr>
      </p:sp>
      <p:sp>
        <p:nvSpPr>
          <p:cNvPr id="13" name="text-215"/>
          <p:cNvSpPr txBox="1"/>
          <p:nvPr/>
        </p:nvSpPr>
        <p:spPr>
          <a:xfrm>
            <a:off x="822960" y="35204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5</a:t>
            </a:r>
            <a:endParaRPr lang="en-US" sz="4800" dirty="0"/>
          </a:p>
        </p:txBody>
      </p:sp>
      <p:sp>
        <p:nvSpPr>
          <p:cNvPr id="14" name="text-216"/>
          <p:cNvSpPr txBox="1"/>
          <p:nvPr/>
        </p:nvSpPr>
        <p:spPr>
          <a:xfrm>
            <a:off x="822960" y="436168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смоделированных внешних систем</a:t>
            </a:r>
            <a:endParaRPr lang="en-US" sz="1400" dirty="0"/>
          </a:p>
        </p:txBody>
      </p:sp>
      <p:sp>
        <p:nvSpPr>
          <p:cNvPr id="15" name="card-217"/>
          <p:cNvSpPr/>
          <p:nvPr/>
        </p:nvSpPr>
        <p:spPr>
          <a:xfrm>
            <a:off x="4297680" y="3337560"/>
            <a:ext cx="3520440" cy="1645920"/>
          </a:xfrm>
          <a:prstGeom prst="roundRect">
            <a:avLst>
              <a:gd name="adj" fmla="val 6667"/>
            </a:avLst>
          </a:prstGeom>
          <a:solidFill>
            <a:srgbClr val="F3F4F5"/>
          </a:solidFill>
          <a:ln w="9525">
            <a:solidFill>
              <a:srgbClr val="F3F4F5"/>
            </a:solidFill>
            <a:prstDash val="solid"/>
          </a:ln>
        </p:spPr>
      </p:sp>
      <p:sp>
        <p:nvSpPr>
          <p:cNvPr id="16" name="text-218"/>
          <p:cNvSpPr txBox="1"/>
          <p:nvPr/>
        </p:nvSpPr>
        <p:spPr>
          <a:xfrm>
            <a:off x="4572000" y="35204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24</a:t>
            </a:r>
            <a:endParaRPr lang="en-US" sz="4800" dirty="0"/>
          </a:p>
        </p:txBody>
      </p:sp>
      <p:sp>
        <p:nvSpPr>
          <p:cNvPr id="17" name="text-219"/>
          <p:cNvSpPr txBox="1"/>
          <p:nvPr/>
        </p:nvSpPr>
        <p:spPr>
          <a:xfrm>
            <a:off x="4572000" y="436168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автотеста + e2e-скрипт на стенде</a:t>
            </a:r>
            <a:endParaRPr lang="en-US" sz="1400" dirty="0"/>
          </a:p>
        </p:txBody>
      </p:sp>
      <p:sp>
        <p:nvSpPr>
          <p:cNvPr id="18" name="card-220"/>
          <p:cNvSpPr/>
          <p:nvPr/>
        </p:nvSpPr>
        <p:spPr>
          <a:xfrm>
            <a:off x="8046720" y="3337560"/>
            <a:ext cx="3520440" cy="1645920"/>
          </a:xfrm>
          <a:prstGeom prst="roundRect">
            <a:avLst>
              <a:gd name="adj" fmla="val 6667"/>
            </a:avLst>
          </a:prstGeom>
          <a:solidFill>
            <a:srgbClr val="F3F4F5"/>
          </a:solidFill>
          <a:ln w="9525">
            <a:solidFill>
              <a:srgbClr val="F3F4F5"/>
            </a:solidFill>
            <a:prstDash val="solid"/>
          </a:ln>
        </p:spPr>
      </p:sp>
      <p:sp>
        <p:nvSpPr>
          <p:cNvPr id="19" name="text-221"/>
          <p:cNvSpPr txBox="1"/>
          <p:nvPr/>
        </p:nvSpPr>
        <p:spPr>
          <a:xfrm>
            <a:off x="8321040" y="35204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41</a:t>
            </a:r>
            <a:endParaRPr lang="en-US" sz="4800" dirty="0"/>
          </a:p>
        </p:txBody>
      </p:sp>
      <p:sp>
        <p:nvSpPr>
          <p:cNvPr id="20" name="text-222"/>
          <p:cNvSpPr txBox="1"/>
          <p:nvPr/>
        </p:nvSpPr>
        <p:spPr>
          <a:xfrm>
            <a:off x="8321040" y="436168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эндпоинт в OpenAPI + Postman</a:t>
            </a:r>
            <a:endParaRPr lang="en-US" sz="1400" dirty="0"/>
          </a:p>
        </p:txBody>
      </p:sp>
      <p:sp>
        <p:nvSpPr>
          <p:cNvPr id="21" name="card-223"/>
          <p:cNvSpPr/>
          <p:nvPr/>
        </p:nvSpPr>
        <p:spPr>
          <a:xfrm>
            <a:off x="548640" y="5349240"/>
            <a:ext cx="1106424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4E7EB"/>
            </a:solidFill>
            <a:prstDash val="solid"/>
          </a:ln>
        </p:spPr>
      </p:sp>
      <p:sp>
        <p:nvSpPr>
          <p:cNvPr id="22" name="text-224"/>
          <p:cNvSpPr txBox="1"/>
          <p:nvPr/>
        </p:nvSpPr>
        <p:spPr>
          <a:xfrm>
            <a:off x="822960" y="557784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up --build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  ·   демо без установки: vv00nder.github.io/Alfa-hack-2026   ·   документация в /docs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7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Эффект и развитие</a:t>
            </a:r>
            <a:endParaRPr lang="en-US" sz="3000" dirty="0"/>
          </a:p>
        </p:txBody>
      </p:sp>
      <p:sp>
        <p:nvSpPr>
          <p:cNvPr id="3" name="text-225"/>
          <p:cNvSpPr txBox="1"/>
          <p:nvPr/>
        </p:nvSpPr>
        <p:spPr>
          <a:xfrm>
            <a:off x="548640" y="14173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Целевые метрики пилота</a:t>
            </a:r>
            <a:endParaRPr lang="en-US" sz="1800" dirty="0"/>
          </a:p>
        </p:txBody>
      </p:sp>
      <p:sp>
        <p:nvSpPr>
          <p:cNvPr id="4" name="card-226"/>
          <p:cNvSpPr/>
          <p:nvPr/>
        </p:nvSpPr>
        <p:spPr>
          <a:xfrm>
            <a:off x="548640" y="1920240"/>
            <a:ext cx="2423160" cy="1737360"/>
          </a:xfrm>
          <a:prstGeom prst="roundRect">
            <a:avLst>
              <a:gd name="adj" fmla="val 6316"/>
            </a:avLst>
          </a:prstGeom>
          <a:solidFill>
            <a:srgbClr val="F3F4F5"/>
          </a:solidFill>
          <a:ln w="9525">
            <a:solidFill>
              <a:srgbClr val="F3F4F5"/>
            </a:solidFill>
            <a:prstDash val="solid"/>
          </a:ln>
        </p:spPr>
      </p:sp>
      <p:sp>
        <p:nvSpPr>
          <p:cNvPr id="5" name="text-227"/>
          <p:cNvSpPr txBox="1"/>
          <p:nvPr/>
        </p:nvSpPr>
        <p:spPr>
          <a:xfrm>
            <a:off x="777240" y="21488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≥ 60%</a:t>
            </a:r>
            <a:endParaRPr lang="en-US" sz="3000" dirty="0"/>
          </a:p>
        </p:txBody>
      </p:sp>
      <p:sp>
        <p:nvSpPr>
          <p:cNvPr id="6" name="text-228"/>
          <p:cNvSpPr txBox="1"/>
          <p:nvPr/>
        </p:nvSpPr>
        <p:spPr>
          <a:xfrm>
            <a:off x="777240" y="288036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автоматических решений до 10 млн</a:t>
            </a:r>
            <a:endParaRPr lang="en-US" sz="1300" dirty="0"/>
          </a:p>
        </p:txBody>
      </p:sp>
      <p:sp>
        <p:nvSpPr>
          <p:cNvPr id="7" name="card-229"/>
          <p:cNvSpPr/>
          <p:nvPr/>
        </p:nvSpPr>
        <p:spPr>
          <a:xfrm>
            <a:off x="3154680" y="1920240"/>
            <a:ext cx="2423160" cy="1737360"/>
          </a:xfrm>
          <a:prstGeom prst="roundRect">
            <a:avLst>
              <a:gd name="adj" fmla="val 6316"/>
            </a:avLst>
          </a:prstGeom>
          <a:solidFill>
            <a:srgbClr val="F3F4F5"/>
          </a:solidFill>
          <a:ln w="9525">
            <a:solidFill>
              <a:srgbClr val="F3F4F5"/>
            </a:solidFill>
            <a:prstDash val="solid"/>
          </a:ln>
        </p:spPr>
      </p:sp>
      <p:sp>
        <p:nvSpPr>
          <p:cNvPr id="8" name="text-230"/>
          <p:cNvSpPr txBox="1"/>
          <p:nvPr/>
        </p:nvSpPr>
        <p:spPr>
          <a:xfrm>
            <a:off x="3383280" y="21488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&lt; 2 мин</a:t>
            </a:r>
            <a:endParaRPr lang="en-US" sz="3000" dirty="0"/>
          </a:p>
        </p:txBody>
      </p:sp>
      <p:sp>
        <p:nvSpPr>
          <p:cNvPr id="9" name="text-231"/>
          <p:cNvSpPr txBox="1"/>
          <p:nvPr/>
        </p:nvSpPr>
        <p:spPr>
          <a:xfrm>
            <a:off x="3383280" y="288036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до автоматического решения (p50)</a:t>
            </a:r>
            <a:endParaRPr lang="en-US" sz="1300" dirty="0"/>
          </a:p>
        </p:txBody>
      </p:sp>
      <p:sp>
        <p:nvSpPr>
          <p:cNvPr id="10" name="card-232"/>
          <p:cNvSpPr/>
          <p:nvPr/>
        </p:nvSpPr>
        <p:spPr>
          <a:xfrm>
            <a:off x="548640" y="3886200"/>
            <a:ext cx="2423160" cy="1737360"/>
          </a:xfrm>
          <a:prstGeom prst="roundRect">
            <a:avLst>
              <a:gd name="adj" fmla="val 6316"/>
            </a:avLst>
          </a:prstGeom>
          <a:solidFill>
            <a:srgbClr val="F3F4F5"/>
          </a:solidFill>
          <a:ln w="9525">
            <a:solidFill>
              <a:srgbClr val="F3F4F5"/>
            </a:solidFill>
            <a:prstDash val="solid"/>
          </a:ln>
        </p:spPr>
      </p:sp>
      <p:sp>
        <p:nvSpPr>
          <p:cNvPr id="11" name="text-233"/>
          <p:cNvSpPr txBox="1"/>
          <p:nvPr/>
        </p:nvSpPr>
        <p:spPr>
          <a:xfrm>
            <a:off x="777240" y="411480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≥ 40%</a:t>
            </a:r>
            <a:endParaRPr lang="en-US" sz="3000" dirty="0"/>
          </a:p>
        </p:txBody>
      </p:sp>
      <p:sp>
        <p:nvSpPr>
          <p:cNvPr id="12" name="text-234"/>
          <p:cNvSpPr txBox="1"/>
          <p:nvPr/>
        </p:nvSpPr>
        <p:spPr>
          <a:xfrm>
            <a:off x="777240" y="48463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встречных предложений принимается</a:t>
            </a:r>
            <a:endParaRPr lang="en-US" sz="1300" dirty="0"/>
          </a:p>
        </p:txBody>
      </p:sp>
      <p:sp>
        <p:nvSpPr>
          <p:cNvPr id="13" name="card-235"/>
          <p:cNvSpPr/>
          <p:nvPr/>
        </p:nvSpPr>
        <p:spPr>
          <a:xfrm>
            <a:off x="3154680" y="3886200"/>
            <a:ext cx="2423160" cy="1737360"/>
          </a:xfrm>
          <a:prstGeom prst="roundRect">
            <a:avLst>
              <a:gd name="adj" fmla="val 6316"/>
            </a:avLst>
          </a:prstGeom>
          <a:solidFill>
            <a:srgbClr val="F3F4F5"/>
          </a:solidFill>
          <a:ln w="9525">
            <a:solidFill>
              <a:srgbClr val="F3F4F5"/>
            </a:solidFill>
            <a:prstDash val="solid"/>
          </a:ln>
        </p:spPr>
      </p:sp>
      <p:sp>
        <p:nvSpPr>
          <p:cNvPr id="14" name="text-236"/>
          <p:cNvSpPr txBox="1"/>
          <p:nvPr/>
        </p:nvSpPr>
        <p:spPr>
          <a:xfrm>
            <a:off x="3383280" y="411480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&lt; 15%</a:t>
            </a:r>
            <a:endParaRPr lang="en-US" sz="3000" dirty="0"/>
          </a:p>
        </p:txBody>
      </p:sp>
      <p:sp>
        <p:nvSpPr>
          <p:cNvPr id="15" name="text-237"/>
          <p:cNvSpPr txBox="1"/>
          <p:nvPr/>
        </p:nvSpPr>
        <p:spPr>
          <a:xfrm>
            <a:off x="3383280" y="48463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заявок с повторным запросом</a:t>
            </a:r>
            <a:endParaRPr lang="en-US" sz="1300" dirty="0"/>
          </a:p>
        </p:txBody>
      </p:sp>
      <p:sp>
        <p:nvSpPr>
          <p:cNvPr id="16" name="text-238"/>
          <p:cNvSpPr txBox="1"/>
          <p:nvPr/>
        </p:nvSpPr>
        <p:spPr>
          <a:xfrm>
            <a:off x="6035040" y="141732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Дорожная карта</a:t>
            </a:r>
            <a:endParaRPr lang="en-US" sz="1800" dirty="0"/>
          </a:p>
        </p:txBody>
      </p:sp>
      <p:sp>
        <p:nvSpPr>
          <p:cNvPr id="17" name="dot-239"/>
          <p:cNvSpPr/>
          <p:nvPr/>
        </p:nvSpPr>
        <p:spPr>
          <a:xfrm>
            <a:off x="6035040" y="192024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num-240"/>
          <p:cNvSpPr txBox="1"/>
          <p:nvPr/>
        </p:nvSpPr>
        <p:spPr>
          <a:xfrm>
            <a:off x="6035040" y="1920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9" name="rl-241"/>
          <p:cNvSpPr/>
          <p:nvPr/>
        </p:nvSpPr>
        <p:spPr>
          <a:xfrm>
            <a:off x="6240780" y="2331720"/>
            <a:ext cx="0" cy="576072"/>
          </a:xfrm>
          <a:prstGeom prst="line">
            <a:avLst/>
          </a:prstGeom>
          <a:noFill/>
          <a:ln w="25400">
            <a:solidFill>
              <a:srgbClr val="CFD5DC"/>
            </a:solidFill>
            <a:prstDash val="solid"/>
          </a:ln>
        </p:spPr>
      </p:sp>
      <p:sp>
        <p:nvSpPr>
          <p:cNvPr id="20" name="text-242"/>
          <p:cNvSpPr txBox="1"/>
          <p:nvPr/>
        </p:nvSpPr>
        <p:spPr>
          <a:xfrm>
            <a:off x="6629400" y="190195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1–2 мес</a:t>
            </a:r>
            <a:endParaRPr lang="en-US" sz="1400" dirty="0"/>
          </a:p>
        </p:txBody>
      </p:sp>
      <p:sp>
        <p:nvSpPr>
          <p:cNvPr id="21" name="text-243"/>
          <p:cNvSpPr txBox="1"/>
          <p:nvPr/>
        </p:nvSpPr>
        <p:spPr>
          <a:xfrm>
            <a:off x="7726680" y="1901952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Пилот на реальных интеграциях через шину, SSO банка, S3 для документов</a:t>
            </a:r>
            <a:endParaRPr lang="en-US" sz="1300" dirty="0"/>
          </a:p>
        </p:txBody>
      </p:sp>
      <p:sp>
        <p:nvSpPr>
          <p:cNvPr id="22" name="dot-244"/>
          <p:cNvSpPr/>
          <p:nvPr/>
        </p:nvSpPr>
        <p:spPr>
          <a:xfrm>
            <a:off x="6035040" y="2907792"/>
            <a:ext cx="411480" cy="4114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3" name="num-245"/>
          <p:cNvSpPr txBox="1"/>
          <p:nvPr/>
        </p:nvSpPr>
        <p:spPr>
          <a:xfrm>
            <a:off x="6035040" y="29077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24" name="rl-246"/>
          <p:cNvSpPr/>
          <p:nvPr/>
        </p:nvSpPr>
        <p:spPr>
          <a:xfrm>
            <a:off x="6240780" y="3319272"/>
            <a:ext cx="0" cy="576072"/>
          </a:xfrm>
          <a:prstGeom prst="line">
            <a:avLst/>
          </a:prstGeom>
          <a:noFill/>
          <a:ln w="25400">
            <a:solidFill>
              <a:srgbClr val="CFD5DC"/>
            </a:solidFill>
            <a:prstDash val="solid"/>
          </a:ln>
        </p:spPr>
      </p:sp>
      <p:sp>
        <p:nvSpPr>
          <p:cNvPr id="25" name="text-247"/>
          <p:cNvSpPr txBox="1"/>
          <p:nvPr/>
        </p:nvSpPr>
        <p:spPr>
          <a:xfrm>
            <a:off x="6629400" y="288950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3–4 мес</a:t>
            </a:r>
            <a:endParaRPr lang="en-US" sz="1400" dirty="0"/>
          </a:p>
        </p:txBody>
      </p:sp>
      <p:sp>
        <p:nvSpPr>
          <p:cNvPr id="26" name="text-248"/>
          <p:cNvSpPr txBox="1"/>
          <p:nvPr/>
        </p:nvSpPr>
        <p:spPr>
          <a:xfrm>
            <a:off x="7726680" y="2889504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Модель на исторических данных: логрегрессия на WoE, Gini/KS, champion/challenger</a:t>
            </a:r>
            <a:endParaRPr lang="en-US" sz="1300" dirty="0"/>
          </a:p>
        </p:txBody>
      </p:sp>
      <p:sp>
        <p:nvSpPr>
          <p:cNvPr id="27" name="dot-249"/>
          <p:cNvSpPr/>
          <p:nvPr/>
        </p:nvSpPr>
        <p:spPr>
          <a:xfrm>
            <a:off x="6035040" y="3895344"/>
            <a:ext cx="411480" cy="4114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8" name="num-250"/>
          <p:cNvSpPr txBox="1"/>
          <p:nvPr/>
        </p:nvSpPr>
        <p:spPr>
          <a:xfrm>
            <a:off x="6035040" y="38953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29" name="rl-251"/>
          <p:cNvSpPr/>
          <p:nvPr/>
        </p:nvSpPr>
        <p:spPr>
          <a:xfrm>
            <a:off x="6240780" y="4306824"/>
            <a:ext cx="0" cy="576072"/>
          </a:xfrm>
          <a:prstGeom prst="line">
            <a:avLst/>
          </a:prstGeom>
          <a:noFill/>
          <a:ln w="25400">
            <a:solidFill>
              <a:srgbClr val="CFD5DC"/>
            </a:solidFill>
            <a:prstDash val="solid"/>
          </a:ln>
        </p:spPr>
      </p:sp>
      <p:sp>
        <p:nvSpPr>
          <p:cNvPr id="30" name="text-252"/>
          <p:cNvSpPr txBox="1"/>
          <p:nvPr/>
        </p:nvSpPr>
        <p:spPr>
          <a:xfrm>
            <a:off x="6629400" y="387705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5–6 мес</a:t>
            </a:r>
            <a:endParaRPr lang="en-US" sz="1400" dirty="0"/>
          </a:p>
        </p:txBody>
      </p:sp>
      <p:sp>
        <p:nvSpPr>
          <p:cNvPr id="31" name="text-253"/>
          <p:cNvSpPr txBox="1"/>
          <p:nvPr/>
        </p:nvSpPr>
        <p:spPr>
          <a:xfrm>
            <a:off x="7726680" y="3877056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Транзакционные признаки по счёту, предодобренные лимиты, BPMN-движок</a:t>
            </a:r>
            <a:endParaRPr lang="en-US" sz="1300" dirty="0"/>
          </a:p>
        </p:txBody>
      </p:sp>
      <p:sp>
        <p:nvSpPr>
          <p:cNvPr id="32" name="dot-254"/>
          <p:cNvSpPr/>
          <p:nvPr/>
        </p:nvSpPr>
        <p:spPr>
          <a:xfrm>
            <a:off x="6035040" y="4882896"/>
            <a:ext cx="411480" cy="4114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3" name="num-255"/>
          <p:cNvSpPr txBox="1"/>
          <p:nvPr/>
        </p:nvSpPr>
        <p:spPr>
          <a:xfrm>
            <a:off x="6035040" y="48828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34" name="text-256"/>
          <p:cNvSpPr txBox="1"/>
          <p:nvPr/>
        </p:nvSpPr>
        <p:spPr>
          <a:xfrm>
            <a:off x="6629400" y="486460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далее</a:t>
            </a:r>
            <a:endParaRPr lang="en-US" sz="1400" dirty="0"/>
          </a:p>
        </p:txBody>
      </p:sp>
      <p:sp>
        <p:nvSpPr>
          <p:cNvPr id="35" name="text-257"/>
          <p:cNvSpPr txBox="1"/>
          <p:nvPr/>
        </p:nvSpPr>
        <p:spPr>
          <a:xfrm>
            <a:off x="7726680" y="4864608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Kubernetes + HPA воркеров, Kafka-события для смежных доменов, мультиканальные уведомления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7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Кредит как понятный процесс для обеих сторон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9D3DF"/>
                </a:solidFill>
              </a:rPr>
              <a:t>Спасибо! Демо без установки: </a:t>
            </a:r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vv00nder.github.io/Alfa-hack-2026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C9D3DF"/>
                </a:solidFill>
              </a:rPr>
              <a:t>Код и документация: github.com/VV00nder/Alfa-hack-2026</a:t>
            </a:r>
            <a:endParaRPr lang="en-US" sz="2000" dirty="0"/>
          </a:p>
        </p:txBody>
      </p:sp>
      <p:sp>
        <p:nvSpPr>
          <p:cNvPr id="4" name="logins"/>
          <p:cNvSpPr txBox="1"/>
          <p:nvPr/>
        </p:nvSpPr>
        <p:spPr>
          <a:xfrm>
            <a:off x="731520" y="566928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Демо-входы: </a:t>
            </a:r>
            <a:pPr indent="0" marL="0">
              <a:buNone/>
            </a:pPr>
            <a:r>
              <a:rPr lang="en-US" sz="1300" dirty="0">
                <a:solidFill>
                  <a:srgbClr val="8FA0B5"/>
                </a:solidFill>
              </a:rPr>
              <a:t>bakery@demo.ru · smirnov@demo.ru · stroy@demo.ru · romashka@demo.ru (Demo123!) · analyst@bank.ru (Analyst123!) · risk@bank.ru (Risk123!) · admin@bank.ru (Admin123!)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reditFlow">
  <a:themeElements>
    <a:clrScheme name="CreditFlow">
      <a:dk1>
        <a:srgbClr val="0B1F35"/>
      </a:dk1>
      <a:lt1>
        <a:srgbClr val="FFFFFF"/>
      </a:lt1>
      <a:dk2>
        <a:srgbClr val="3C4A5C"/>
      </a:dk2>
      <a:lt2>
        <a:srgbClr val="F3F4F5"/>
      </a:lt2>
      <a:accent1>
        <a:srgbClr val="EF3124"/>
      </a:accent1>
      <a:accent2>
        <a:srgbClr val="0B1F35"/>
      </a:accent2>
      <a:accent3>
        <a:srgbClr val="0F8A4A"/>
      </a:accent3>
      <a:accent4>
        <a:srgbClr val="B26B00"/>
      </a:accent4>
      <a:accent5>
        <a:srgbClr val="1F5FBF"/>
      </a:accent5>
      <a:accent6>
        <a:srgbClr val="6B7785"/>
      </a:accent6>
      <a:hlink>
        <a:srgbClr val="1F5FBF"/>
      </a:hlink>
      <a:folHlink>
        <a:srgbClr val="6B7785"/>
      </a:folHlink>
    </a:clrScheme>
    <a:fontScheme name="CreditFlow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CreditFlow — умный кредитный кабинет предпринимателя</dc:title>
  <dc:subject>PptxGenJS Presentation</dc:subject>
  <dc:creator>Команда «Нейрослопики»</dc:creator>
  <cp:lastModifiedBy>Команда «Нейрослопики»</cp:lastModifiedBy>
  <cp:revision>1</cp:revision>
  <dcterms:created xsi:type="dcterms:W3CDTF">2026-10-20T09:14:15Z</dcterms:created>
  <dcterms:modified xsi:type="dcterms:W3CDTF">2026-10-20T09:14:15Z</dcterms:modified>
</cp:coreProperties>
</file>